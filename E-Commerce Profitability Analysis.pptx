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6.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8" r:id="rId2"/>
    <p:sldId id="260" r:id="rId3"/>
    <p:sldId id="263" r:id="rId4"/>
    <p:sldId id="262" r:id="rId5"/>
    <p:sldId id="265" r:id="rId6"/>
    <p:sldId id="264" r:id="rId7"/>
    <p:sldId id="266" r:id="rId8"/>
    <p:sldId id="267"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43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29D546-27FA-4AC8-ADD9-808B85674910}" v="46" dt="2026-03-22T19:09:04.9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118" autoAdjust="0"/>
  </p:normalViewPr>
  <p:slideViewPr>
    <p:cSldViewPr snapToGrid="0">
      <p:cViewPr varScale="1">
        <p:scale>
          <a:sx n="69" d="100"/>
          <a:sy n="69" d="100"/>
        </p:scale>
        <p:origin x="504"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[Chart in Microsoft PowerPoint]Sheet1!PivotTable1</c:name>
    <c:fmtId val="-1"/>
  </c:pivotSource>
  <c:chart>
    <c:autoTitleDeleted val="1"/>
    <c:pivotFmts>
      <c:pivotFmt>
        <c:idx val="0"/>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00B0F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00B0F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00B0F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4940184171849712E-2"/>
          <c:y val="0.10871958713761974"/>
          <c:w val="0.6154921026330783"/>
          <c:h val="0.61734220035682352"/>
        </c:manualLayout>
      </c:layout>
      <c:barChart>
        <c:barDir val="col"/>
        <c:grouping val="clustered"/>
        <c:varyColors val="0"/>
        <c:ser>
          <c:idx val="0"/>
          <c:order val="0"/>
          <c:tx>
            <c:strRef>
              <c:f>Sheet1!$B$1</c:f>
              <c:strCache>
                <c:ptCount val="1"/>
                <c:pt idx="0">
                  <c:v>OrderQuantity </c:v>
                </c:pt>
              </c:strCache>
            </c:strRef>
          </c:tx>
          <c:spPr>
            <a:solidFill>
              <a:srgbClr val="002060"/>
            </a:solidFill>
            <a:ln>
              <a:noFill/>
            </a:ln>
            <a:effectLst/>
          </c:spPr>
          <c:invertIfNegative val="0"/>
          <c:cat>
            <c:strRef>
              <c:f>Sheet1!$A$2:$A$10</c:f>
              <c:strCache>
                <c:ptCount val="8"/>
                <c:pt idx="0">
                  <c:v>Clothing</c:v>
                </c:pt>
                <c:pt idx="1">
                  <c:v>Sports</c:v>
                </c:pt>
                <c:pt idx="2">
                  <c:v>Electronics</c:v>
                </c:pt>
                <c:pt idx="3">
                  <c:v>Toys</c:v>
                </c:pt>
                <c:pt idx="4">
                  <c:v>Books</c:v>
                </c:pt>
                <c:pt idx="5">
                  <c:v>Food &amp; Beverage</c:v>
                </c:pt>
                <c:pt idx="6">
                  <c:v>Beauty</c:v>
                </c:pt>
                <c:pt idx="7">
                  <c:v>Home &amp; Kitchen</c:v>
                </c:pt>
              </c:strCache>
            </c:strRef>
          </c:cat>
          <c:val>
            <c:numRef>
              <c:f>Sheet1!$B$2:$B$10</c:f>
              <c:numCache>
                <c:formatCode>General</c:formatCode>
                <c:ptCount val="8"/>
                <c:pt idx="0">
                  <c:v>554</c:v>
                </c:pt>
                <c:pt idx="1">
                  <c:v>528</c:v>
                </c:pt>
                <c:pt idx="2">
                  <c:v>507</c:v>
                </c:pt>
                <c:pt idx="3">
                  <c:v>503</c:v>
                </c:pt>
                <c:pt idx="4">
                  <c:v>456</c:v>
                </c:pt>
                <c:pt idx="5">
                  <c:v>446</c:v>
                </c:pt>
                <c:pt idx="6">
                  <c:v>382</c:v>
                </c:pt>
                <c:pt idx="7">
                  <c:v>382</c:v>
                </c:pt>
              </c:numCache>
            </c:numRef>
          </c:val>
          <c:extLst>
            <c:ext xmlns:c16="http://schemas.microsoft.com/office/drawing/2014/chart" uri="{C3380CC4-5D6E-409C-BE32-E72D297353CC}">
              <c16:uniqueId val="{00000000-621F-444B-B0E7-55ADA5F96AE1}"/>
            </c:ext>
          </c:extLst>
        </c:ser>
        <c:ser>
          <c:idx val="1"/>
          <c:order val="1"/>
          <c:tx>
            <c:strRef>
              <c:f>Sheet1!$C$1</c:f>
              <c:strCache>
                <c:ptCount val="1"/>
                <c:pt idx="0">
                  <c:v>TotalOrders</c:v>
                </c:pt>
              </c:strCache>
            </c:strRef>
          </c:tx>
          <c:spPr>
            <a:solidFill>
              <a:srgbClr val="00B0F0"/>
            </a:solidFill>
            <a:ln>
              <a:noFill/>
            </a:ln>
            <a:effectLst/>
          </c:spPr>
          <c:invertIfNegative val="0"/>
          <c:cat>
            <c:strRef>
              <c:f>Sheet1!$A$2:$A$10</c:f>
              <c:strCache>
                <c:ptCount val="8"/>
                <c:pt idx="0">
                  <c:v>Clothing</c:v>
                </c:pt>
                <c:pt idx="1">
                  <c:v>Sports</c:v>
                </c:pt>
                <c:pt idx="2">
                  <c:v>Electronics</c:v>
                </c:pt>
                <c:pt idx="3">
                  <c:v>Toys</c:v>
                </c:pt>
                <c:pt idx="4">
                  <c:v>Books</c:v>
                </c:pt>
                <c:pt idx="5">
                  <c:v>Food &amp; Beverage</c:v>
                </c:pt>
                <c:pt idx="6">
                  <c:v>Beauty</c:v>
                </c:pt>
                <c:pt idx="7">
                  <c:v>Home &amp; Kitchen</c:v>
                </c:pt>
              </c:strCache>
            </c:strRef>
          </c:cat>
          <c:val>
            <c:numRef>
              <c:f>Sheet1!$C$2:$C$10</c:f>
              <c:numCache>
                <c:formatCode>General</c:formatCode>
                <c:ptCount val="8"/>
                <c:pt idx="0">
                  <c:v>293</c:v>
                </c:pt>
                <c:pt idx="1">
                  <c:v>292</c:v>
                </c:pt>
                <c:pt idx="2">
                  <c:v>267</c:v>
                </c:pt>
                <c:pt idx="3">
                  <c:v>257</c:v>
                </c:pt>
                <c:pt idx="4">
                  <c:v>239</c:v>
                </c:pt>
                <c:pt idx="5">
                  <c:v>247</c:v>
                </c:pt>
                <c:pt idx="6">
                  <c:v>205</c:v>
                </c:pt>
                <c:pt idx="7">
                  <c:v>200</c:v>
                </c:pt>
              </c:numCache>
            </c:numRef>
          </c:val>
          <c:extLst>
            <c:ext xmlns:c16="http://schemas.microsoft.com/office/drawing/2014/chart" uri="{C3380CC4-5D6E-409C-BE32-E72D297353CC}">
              <c16:uniqueId val="{00000001-621F-444B-B0E7-55ADA5F96AE1}"/>
            </c:ext>
          </c:extLst>
        </c:ser>
        <c:dLbls>
          <c:showLegendKey val="0"/>
          <c:showVal val="0"/>
          <c:showCatName val="0"/>
          <c:showSerName val="0"/>
          <c:showPercent val="0"/>
          <c:showBubbleSize val="0"/>
        </c:dLbls>
        <c:gapWidth val="219"/>
        <c:overlap val="-27"/>
        <c:axId val="1134900160"/>
        <c:axId val="1134900640"/>
      </c:barChart>
      <c:catAx>
        <c:axId val="1134900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34900640"/>
        <c:crosses val="autoZero"/>
        <c:auto val="1"/>
        <c:lblAlgn val="ctr"/>
        <c:lblOffset val="100"/>
        <c:noMultiLvlLbl val="0"/>
      </c:catAx>
      <c:valAx>
        <c:axId val="1134900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349001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[Project.xlsx]Sheet1!PivotTable2</c:name>
    <c:fmtId val="1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Profit</a:t>
            </a:r>
            <a:r>
              <a:rPr lang="en-ZA" baseline="0"/>
              <a:t> Margin</a:t>
            </a:r>
            <a:endParaRPr lang="en-ZA"/>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pivotFmt>
      <c:pivotFmt>
        <c:idx val="2"/>
        <c:spPr>
          <a:solidFill>
            <a:srgbClr val="FF0000"/>
          </a:solidFill>
          <a:ln>
            <a:noFill/>
          </a:ln>
          <a:effectLst/>
        </c:spPr>
      </c:pivotFmt>
      <c:pivotFmt>
        <c:idx val="3"/>
        <c:spPr>
          <a:solidFill>
            <a:srgbClr val="FF0000"/>
          </a:solidFill>
          <a:ln>
            <a:noFill/>
          </a:ln>
          <a:effectLst/>
        </c:spP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lumMod val="75000"/>
            </a:schemeClr>
          </a:solidFill>
          <a:ln>
            <a:noFill/>
          </a:ln>
          <a:effectLst/>
        </c:spPr>
      </c:pivotFmt>
      <c:pivotFmt>
        <c:idx val="6"/>
        <c:spPr>
          <a:solidFill>
            <a:schemeClr val="accent6">
              <a:lumMod val="75000"/>
            </a:schemeClr>
          </a:solidFill>
          <a:ln>
            <a:noFill/>
          </a:ln>
          <a:effectLst/>
        </c:spPr>
      </c:pivotFmt>
      <c:pivotFmt>
        <c:idx val="7"/>
        <c:spPr>
          <a:solidFill>
            <a:schemeClr val="accent6">
              <a:lumMod val="75000"/>
            </a:schemeClr>
          </a:solidFill>
          <a:ln>
            <a:noFill/>
          </a:ln>
          <a:effectLst/>
        </c:spPr>
      </c:pivotFmt>
      <c:pivotFmt>
        <c:idx val="8"/>
        <c:spPr>
          <a:solidFill>
            <a:schemeClr val="accent6">
              <a:lumMod val="75000"/>
            </a:schemeClr>
          </a:solidFill>
          <a:ln>
            <a:noFill/>
          </a:ln>
          <a:effectLst/>
        </c:spPr>
      </c:pivotFmt>
      <c:pivotFmt>
        <c:idx val="9"/>
        <c:spPr>
          <a:solidFill>
            <a:schemeClr val="accent6">
              <a:lumMod val="75000"/>
            </a:schemeClr>
          </a:solidFill>
          <a:ln>
            <a:noFill/>
          </a:ln>
          <a:effectLst/>
        </c:spPr>
      </c:pivotFmt>
      <c:pivotFmt>
        <c:idx val="10"/>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6">
              <a:lumMod val="75000"/>
            </a:schemeClr>
          </a:solidFill>
          <a:ln>
            <a:noFill/>
          </a:ln>
          <a:effectLst/>
        </c:spPr>
      </c:pivotFmt>
      <c:pivotFmt>
        <c:idx val="12"/>
        <c:spPr>
          <a:solidFill>
            <a:schemeClr val="accent6">
              <a:lumMod val="75000"/>
            </a:schemeClr>
          </a:solidFill>
          <a:ln>
            <a:noFill/>
          </a:ln>
          <a:effectLst/>
        </c:spPr>
      </c:pivotFmt>
      <c:pivotFmt>
        <c:idx val="13"/>
        <c:spPr>
          <a:solidFill>
            <a:schemeClr val="accent6">
              <a:lumMod val="75000"/>
            </a:schemeClr>
          </a:solidFill>
          <a:ln>
            <a:noFill/>
          </a:ln>
          <a:effectLst/>
        </c:spPr>
      </c:pivotFmt>
      <c:pivotFmt>
        <c:idx val="14"/>
        <c:spPr>
          <a:solidFill>
            <a:schemeClr val="accent6">
              <a:lumMod val="75000"/>
            </a:schemeClr>
          </a:solidFill>
          <a:ln>
            <a:noFill/>
          </a:ln>
          <a:effectLst/>
        </c:spPr>
      </c:pivotFmt>
      <c:pivotFmt>
        <c:idx val="15"/>
        <c:spPr>
          <a:solidFill>
            <a:schemeClr val="accent6">
              <a:lumMod val="75000"/>
            </a:schemeClr>
          </a:solidFill>
          <a:ln>
            <a:noFill/>
          </a:ln>
          <a:effectLst/>
        </c:spPr>
      </c:pivotFmt>
      <c:pivotFmt>
        <c:idx val="16"/>
        <c:spPr>
          <a:solidFill>
            <a:srgbClr val="FF0000"/>
          </a:solidFill>
          <a:ln>
            <a:noFill/>
          </a:ln>
          <a:effectLst/>
        </c:spPr>
      </c:pivotFmt>
      <c:pivotFmt>
        <c:idx val="17"/>
        <c:spPr>
          <a:solidFill>
            <a:srgbClr val="FF0000"/>
          </a:solidFill>
          <a:ln>
            <a:noFill/>
          </a:ln>
          <a:effectLst/>
        </c:spPr>
      </c:pivotFmt>
      <c:pivotFmt>
        <c:idx val="18"/>
        <c:spPr>
          <a:solidFill>
            <a:srgbClr val="FF0000"/>
          </a:solidFill>
          <a:ln>
            <a:noFill/>
          </a:ln>
          <a:effectLst/>
        </c:spPr>
      </c:pivotFmt>
      <c:pivotFmt>
        <c:idx val="19"/>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6">
              <a:lumMod val="75000"/>
            </a:schemeClr>
          </a:solidFill>
          <a:ln>
            <a:noFill/>
          </a:ln>
          <a:effectLst/>
        </c:spPr>
      </c:pivotFmt>
      <c:pivotFmt>
        <c:idx val="21"/>
        <c:spPr>
          <a:solidFill>
            <a:schemeClr val="accent6">
              <a:lumMod val="75000"/>
            </a:schemeClr>
          </a:solidFill>
          <a:ln>
            <a:noFill/>
          </a:ln>
          <a:effectLst/>
        </c:spPr>
      </c:pivotFmt>
      <c:pivotFmt>
        <c:idx val="22"/>
        <c:spPr>
          <a:solidFill>
            <a:schemeClr val="accent6">
              <a:lumMod val="75000"/>
            </a:schemeClr>
          </a:solidFill>
          <a:ln>
            <a:noFill/>
          </a:ln>
          <a:effectLst/>
        </c:spPr>
      </c:pivotFmt>
      <c:pivotFmt>
        <c:idx val="23"/>
        <c:spPr>
          <a:solidFill>
            <a:schemeClr val="accent6">
              <a:lumMod val="75000"/>
            </a:schemeClr>
          </a:solidFill>
          <a:ln>
            <a:noFill/>
          </a:ln>
          <a:effectLst/>
        </c:spPr>
      </c:pivotFmt>
      <c:pivotFmt>
        <c:idx val="24"/>
        <c:spPr>
          <a:solidFill>
            <a:schemeClr val="accent6">
              <a:lumMod val="75000"/>
            </a:schemeClr>
          </a:solidFill>
          <a:ln>
            <a:noFill/>
          </a:ln>
          <a:effectLst/>
        </c:spPr>
      </c:pivotFmt>
      <c:pivotFmt>
        <c:idx val="25"/>
        <c:spPr>
          <a:solidFill>
            <a:srgbClr val="FF0000"/>
          </a:solidFill>
          <a:ln>
            <a:noFill/>
          </a:ln>
          <a:effectLst/>
        </c:spPr>
      </c:pivotFmt>
      <c:pivotFmt>
        <c:idx val="26"/>
        <c:spPr>
          <a:solidFill>
            <a:srgbClr val="FF0000"/>
          </a:solidFill>
          <a:ln>
            <a:noFill/>
          </a:ln>
          <a:effectLst/>
        </c:spPr>
      </c:pivotFmt>
      <c:pivotFmt>
        <c:idx val="27"/>
        <c:spPr>
          <a:solidFill>
            <a:srgbClr val="FF0000"/>
          </a:solidFill>
          <a:ln>
            <a:noFill/>
          </a:ln>
          <a:effectLst/>
        </c:spPr>
      </c:pivotFmt>
    </c:pivotFmts>
    <c:plotArea>
      <c:layout/>
      <c:barChart>
        <c:barDir val="bar"/>
        <c:grouping val="clustered"/>
        <c:varyColors val="0"/>
        <c:ser>
          <c:idx val="0"/>
          <c:order val="0"/>
          <c:tx>
            <c:strRef>
              <c:f>Sheet1!$N$1</c:f>
              <c:strCache>
                <c:ptCount val="1"/>
                <c:pt idx="0">
                  <c:v>Total</c:v>
                </c:pt>
              </c:strCache>
            </c:strRef>
          </c:tx>
          <c:spPr>
            <a:solidFill>
              <a:srgbClr val="002060"/>
            </a:solidFill>
            <a:ln>
              <a:noFill/>
            </a:ln>
            <a:effectLst/>
          </c:spPr>
          <c:invertIfNegative val="0"/>
          <c:dPt>
            <c:idx val="0"/>
            <c:invertIfNegative val="0"/>
            <c:bubble3D val="0"/>
            <c:spPr>
              <a:solidFill>
                <a:schemeClr val="accent6">
                  <a:lumMod val="75000"/>
                </a:schemeClr>
              </a:solidFill>
              <a:ln>
                <a:noFill/>
              </a:ln>
              <a:effectLst/>
            </c:spPr>
            <c:extLst>
              <c:ext xmlns:c16="http://schemas.microsoft.com/office/drawing/2014/chart" uri="{C3380CC4-5D6E-409C-BE32-E72D297353CC}">
                <c16:uniqueId val="{00000001-902C-4F14-B58A-C7DE2E625E96}"/>
              </c:ext>
            </c:extLst>
          </c:dPt>
          <c:dPt>
            <c:idx val="1"/>
            <c:invertIfNegative val="0"/>
            <c:bubble3D val="0"/>
            <c:spPr>
              <a:solidFill>
                <a:schemeClr val="accent6">
                  <a:lumMod val="75000"/>
                </a:schemeClr>
              </a:solidFill>
              <a:ln>
                <a:noFill/>
              </a:ln>
              <a:effectLst/>
            </c:spPr>
            <c:extLst>
              <c:ext xmlns:c16="http://schemas.microsoft.com/office/drawing/2014/chart" uri="{C3380CC4-5D6E-409C-BE32-E72D297353CC}">
                <c16:uniqueId val="{00000003-902C-4F14-B58A-C7DE2E625E96}"/>
              </c:ext>
            </c:extLst>
          </c:dPt>
          <c:dPt>
            <c:idx val="2"/>
            <c:invertIfNegative val="0"/>
            <c:bubble3D val="0"/>
            <c:spPr>
              <a:solidFill>
                <a:schemeClr val="accent6">
                  <a:lumMod val="75000"/>
                </a:schemeClr>
              </a:solidFill>
              <a:ln>
                <a:noFill/>
              </a:ln>
              <a:effectLst/>
            </c:spPr>
            <c:extLst>
              <c:ext xmlns:c16="http://schemas.microsoft.com/office/drawing/2014/chart" uri="{C3380CC4-5D6E-409C-BE32-E72D297353CC}">
                <c16:uniqueId val="{00000005-902C-4F14-B58A-C7DE2E625E96}"/>
              </c:ext>
            </c:extLst>
          </c:dPt>
          <c:dPt>
            <c:idx val="3"/>
            <c:invertIfNegative val="0"/>
            <c:bubble3D val="0"/>
            <c:spPr>
              <a:solidFill>
                <a:schemeClr val="accent6">
                  <a:lumMod val="75000"/>
                </a:schemeClr>
              </a:solidFill>
              <a:ln>
                <a:noFill/>
              </a:ln>
              <a:effectLst/>
            </c:spPr>
            <c:extLst>
              <c:ext xmlns:c16="http://schemas.microsoft.com/office/drawing/2014/chart" uri="{C3380CC4-5D6E-409C-BE32-E72D297353CC}">
                <c16:uniqueId val="{00000007-902C-4F14-B58A-C7DE2E625E96}"/>
              </c:ext>
            </c:extLst>
          </c:dPt>
          <c:dPt>
            <c:idx val="4"/>
            <c:invertIfNegative val="0"/>
            <c:bubble3D val="0"/>
            <c:spPr>
              <a:solidFill>
                <a:schemeClr val="accent6">
                  <a:lumMod val="75000"/>
                </a:schemeClr>
              </a:solidFill>
              <a:ln>
                <a:noFill/>
              </a:ln>
              <a:effectLst/>
            </c:spPr>
            <c:extLst>
              <c:ext xmlns:c16="http://schemas.microsoft.com/office/drawing/2014/chart" uri="{C3380CC4-5D6E-409C-BE32-E72D297353CC}">
                <c16:uniqueId val="{00000009-902C-4F14-B58A-C7DE2E625E96}"/>
              </c:ext>
            </c:extLst>
          </c:dPt>
          <c:dPt>
            <c:idx val="5"/>
            <c:invertIfNegative val="0"/>
            <c:bubble3D val="0"/>
            <c:spPr>
              <a:solidFill>
                <a:srgbClr val="FF0000"/>
              </a:solidFill>
              <a:ln>
                <a:noFill/>
              </a:ln>
              <a:effectLst/>
            </c:spPr>
            <c:extLst>
              <c:ext xmlns:c16="http://schemas.microsoft.com/office/drawing/2014/chart" uri="{C3380CC4-5D6E-409C-BE32-E72D297353CC}">
                <c16:uniqueId val="{0000000B-902C-4F14-B58A-C7DE2E625E96}"/>
              </c:ext>
            </c:extLst>
          </c:dPt>
          <c:dPt>
            <c:idx val="6"/>
            <c:invertIfNegative val="0"/>
            <c:bubble3D val="0"/>
            <c:spPr>
              <a:solidFill>
                <a:srgbClr val="FF0000"/>
              </a:solidFill>
              <a:ln>
                <a:noFill/>
              </a:ln>
              <a:effectLst/>
            </c:spPr>
            <c:extLst>
              <c:ext xmlns:c16="http://schemas.microsoft.com/office/drawing/2014/chart" uri="{C3380CC4-5D6E-409C-BE32-E72D297353CC}">
                <c16:uniqueId val="{0000000D-902C-4F14-B58A-C7DE2E625E96}"/>
              </c:ext>
            </c:extLst>
          </c:dPt>
          <c:dPt>
            <c:idx val="7"/>
            <c:invertIfNegative val="0"/>
            <c:bubble3D val="0"/>
            <c:spPr>
              <a:solidFill>
                <a:srgbClr val="FF0000"/>
              </a:solidFill>
              <a:ln>
                <a:noFill/>
              </a:ln>
              <a:effectLst/>
            </c:spPr>
            <c:extLst>
              <c:ext xmlns:c16="http://schemas.microsoft.com/office/drawing/2014/chart" uri="{C3380CC4-5D6E-409C-BE32-E72D297353CC}">
                <c16:uniqueId val="{0000000F-902C-4F14-B58A-C7DE2E625E96}"/>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Sheet1!$M$2:$M$10</c:f>
              <c:strCache>
                <c:ptCount val="8"/>
                <c:pt idx="0">
                  <c:v>Electronics</c:v>
                </c:pt>
                <c:pt idx="1">
                  <c:v>Toys</c:v>
                </c:pt>
                <c:pt idx="2">
                  <c:v>Home &amp; Kitchen</c:v>
                </c:pt>
                <c:pt idx="3">
                  <c:v>Food &amp; Beverage</c:v>
                </c:pt>
                <c:pt idx="4">
                  <c:v>Sports</c:v>
                </c:pt>
                <c:pt idx="5">
                  <c:v>Clothing</c:v>
                </c:pt>
                <c:pt idx="6">
                  <c:v>Beauty</c:v>
                </c:pt>
                <c:pt idx="7">
                  <c:v>Books</c:v>
                </c:pt>
              </c:strCache>
            </c:strRef>
          </c:cat>
          <c:val>
            <c:numRef>
              <c:f>Sheet1!$N$2:$N$10</c:f>
              <c:numCache>
                <c:formatCode>0%</c:formatCode>
                <c:ptCount val="8"/>
                <c:pt idx="0">
                  <c:v>0.26426602824809287</c:v>
                </c:pt>
                <c:pt idx="1">
                  <c:v>0.2248215245259845</c:v>
                </c:pt>
                <c:pt idx="2">
                  <c:v>0.2166027676028994</c:v>
                </c:pt>
                <c:pt idx="3">
                  <c:v>0.20585885767650114</c:v>
                </c:pt>
                <c:pt idx="4">
                  <c:v>0.20282966097735178</c:v>
                </c:pt>
                <c:pt idx="5">
                  <c:v>0.16719657955623793</c:v>
                </c:pt>
                <c:pt idx="6">
                  <c:v>0.1521165846403876</c:v>
                </c:pt>
                <c:pt idx="7">
                  <c:v>0.10037664833841063</c:v>
                </c:pt>
              </c:numCache>
            </c:numRef>
          </c:val>
          <c:extLst>
            <c:ext xmlns:c16="http://schemas.microsoft.com/office/drawing/2014/chart" uri="{C3380CC4-5D6E-409C-BE32-E72D297353CC}">
              <c16:uniqueId val="{00000010-902C-4F14-B58A-C7DE2E625E96}"/>
            </c:ext>
          </c:extLst>
        </c:ser>
        <c:dLbls>
          <c:dLblPos val="outEnd"/>
          <c:showLegendKey val="0"/>
          <c:showVal val="1"/>
          <c:showCatName val="0"/>
          <c:showSerName val="0"/>
          <c:showPercent val="0"/>
          <c:showBubbleSize val="0"/>
        </c:dLbls>
        <c:gapWidth val="219"/>
        <c:axId val="1169281583"/>
        <c:axId val="1169282063"/>
      </c:barChart>
      <c:catAx>
        <c:axId val="11692815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9282063"/>
        <c:crosses val="autoZero"/>
        <c:auto val="1"/>
        <c:lblAlgn val="ctr"/>
        <c:lblOffset val="100"/>
        <c:noMultiLvlLbl val="0"/>
      </c:catAx>
      <c:valAx>
        <c:axId val="1169282063"/>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92815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[Project.xlsx]Sheet1!PivotTable4</c:name>
    <c:fmtId val="4"/>
  </c:pivotSource>
  <c:chart>
    <c:autoTitleDeleted val="0"/>
    <c:pivotFmts>
      <c:pivotFmt>
        <c:idx val="0"/>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Sheet1!$B$33</c:f>
              <c:strCache>
                <c:ptCount val="1"/>
                <c:pt idx="0">
                  <c:v>OrderQuantity</c:v>
                </c:pt>
              </c:strCache>
            </c:strRef>
          </c:tx>
          <c:spPr>
            <a:solidFill>
              <a:srgbClr val="002060"/>
            </a:solidFill>
            <a:ln>
              <a:noFill/>
            </a:ln>
            <a:effectLst/>
          </c:spPr>
          <c:invertIfNegative val="0"/>
          <c:cat>
            <c:strRef>
              <c:f>Sheet1!$A$34:$A$38</c:f>
              <c:strCache>
                <c:ptCount val="4"/>
                <c:pt idx="0">
                  <c:v>Website</c:v>
                </c:pt>
                <c:pt idx="1">
                  <c:v>Mobile App</c:v>
                </c:pt>
                <c:pt idx="2">
                  <c:v>Marketplace</c:v>
                </c:pt>
                <c:pt idx="3">
                  <c:v>Social Commerce</c:v>
                </c:pt>
              </c:strCache>
            </c:strRef>
          </c:cat>
          <c:val>
            <c:numRef>
              <c:f>Sheet1!$B$34:$B$38</c:f>
              <c:numCache>
                <c:formatCode>General</c:formatCode>
                <c:ptCount val="4"/>
                <c:pt idx="0">
                  <c:v>1468</c:v>
                </c:pt>
                <c:pt idx="1">
                  <c:v>1129</c:v>
                </c:pt>
                <c:pt idx="2">
                  <c:v>784</c:v>
                </c:pt>
                <c:pt idx="3">
                  <c:v>377</c:v>
                </c:pt>
              </c:numCache>
            </c:numRef>
          </c:val>
          <c:extLst>
            <c:ext xmlns:c16="http://schemas.microsoft.com/office/drawing/2014/chart" uri="{C3380CC4-5D6E-409C-BE32-E72D297353CC}">
              <c16:uniqueId val="{00000000-AABF-41BE-8456-71C5C8A0D16D}"/>
            </c:ext>
          </c:extLst>
        </c:ser>
        <c:ser>
          <c:idx val="1"/>
          <c:order val="1"/>
          <c:tx>
            <c:strRef>
              <c:f>Sheet1!$C$33</c:f>
              <c:strCache>
                <c:ptCount val="1"/>
                <c:pt idx="0">
                  <c:v>TotalOrders</c:v>
                </c:pt>
              </c:strCache>
            </c:strRef>
          </c:tx>
          <c:spPr>
            <a:solidFill>
              <a:schemeClr val="accent1">
                <a:lumMod val="60000"/>
                <a:lumOff val="40000"/>
              </a:schemeClr>
            </a:solidFill>
            <a:ln>
              <a:noFill/>
            </a:ln>
            <a:effectLst/>
          </c:spPr>
          <c:invertIfNegative val="0"/>
          <c:cat>
            <c:strRef>
              <c:f>Sheet1!$A$34:$A$38</c:f>
              <c:strCache>
                <c:ptCount val="4"/>
                <c:pt idx="0">
                  <c:v>Website</c:v>
                </c:pt>
                <c:pt idx="1">
                  <c:v>Mobile App</c:v>
                </c:pt>
                <c:pt idx="2">
                  <c:v>Marketplace</c:v>
                </c:pt>
                <c:pt idx="3">
                  <c:v>Social Commerce</c:v>
                </c:pt>
              </c:strCache>
            </c:strRef>
          </c:cat>
          <c:val>
            <c:numRef>
              <c:f>Sheet1!$C$34:$C$38</c:f>
              <c:numCache>
                <c:formatCode>General</c:formatCode>
                <c:ptCount val="4"/>
                <c:pt idx="0">
                  <c:v>795</c:v>
                </c:pt>
                <c:pt idx="1">
                  <c:v>589</c:v>
                </c:pt>
                <c:pt idx="2">
                  <c:v>419</c:v>
                </c:pt>
                <c:pt idx="3">
                  <c:v>197</c:v>
                </c:pt>
              </c:numCache>
            </c:numRef>
          </c:val>
          <c:extLst>
            <c:ext xmlns:c16="http://schemas.microsoft.com/office/drawing/2014/chart" uri="{C3380CC4-5D6E-409C-BE32-E72D297353CC}">
              <c16:uniqueId val="{00000001-AABF-41BE-8456-71C5C8A0D16D}"/>
            </c:ext>
          </c:extLst>
        </c:ser>
        <c:dLbls>
          <c:showLegendKey val="0"/>
          <c:showVal val="0"/>
          <c:showCatName val="0"/>
          <c:showSerName val="0"/>
          <c:showPercent val="0"/>
          <c:showBubbleSize val="0"/>
        </c:dLbls>
        <c:gapWidth val="219"/>
        <c:overlap val="-27"/>
        <c:axId val="1169286383"/>
        <c:axId val="1169286863"/>
      </c:barChart>
      <c:catAx>
        <c:axId val="11692863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9286863"/>
        <c:crosses val="autoZero"/>
        <c:auto val="1"/>
        <c:lblAlgn val="ctr"/>
        <c:lblOffset val="100"/>
        <c:noMultiLvlLbl val="0"/>
      </c:catAx>
      <c:valAx>
        <c:axId val="11692868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928638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[Project.xlsx]Sheet1!PivotTable3</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Avarage</a:t>
            </a:r>
            <a:r>
              <a:rPr lang="en-ZA" baseline="0"/>
              <a:t> Profit Per Order</a:t>
            </a:r>
            <a:endParaRPr lang="en-ZA"/>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
      </c:pivotFmt>
      <c:pivotFmt>
        <c:idx val="2"/>
        <c:spPr>
          <a:solidFill>
            <a:schemeClr val="accent6">
              <a:lumMod val="75000"/>
            </a:schemeClr>
          </a:solidFill>
          <a:ln>
            <a:noFill/>
          </a:ln>
          <a:effectLst/>
        </c:spPr>
      </c:pivotFmt>
      <c:pivotFmt>
        <c:idx val="3"/>
        <c:spPr>
          <a:solidFill>
            <a:schemeClr val="accent6">
              <a:lumMod val="75000"/>
            </a:schemeClr>
          </a:solidFill>
          <a:ln>
            <a:noFill/>
          </a:ln>
          <a:effectLst/>
        </c:spPr>
      </c:pivotFmt>
      <c:pivotFmt>
        <c:idx val="4"/>
        <c:spPr>
          <a:solidFill>
            <a:srgbClr val="FF0000"/>
          </a:solidFill>
          <a:ln>
            <a:noFill/>
          </a:ln>
          <a:effectLst/>
        </c:spPr>
      </c:pivotFmt>
      <c:pivotFmt>
        <c:idx val="5"/>
        <c:spPr>
          <a:solidFill>
            <a:srgbClr val="FF0000"/>
          </a:solidFill>
          <a:ln>
            <a:noFill/>
          </a:ln>
          <a:effectLst/>
        </c:spPr>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lumMod val="75000"/>
            </a:schemeClr>
          </a:solidFill>
          <a:ln>
            <a:noFill/>
          </a:ln>
          <a:effectLst/>
        </c:spPr>
      </c:pivotFmt>
      <c:pivotFmt>
        <c:idx val="8"/>
        <c:spPr>
          <a:solidFill>
            <a:schemeClr val="accent6">
              <a:lumMod val="75000"/>
            </a:schemeClr>
          </a:solidFill>
          <a:ln>
            <a:noFill/>
          </a:ln>
          <a:effectLst/>
        </c:spPr>
      </c:pivotFmt>
      <c:pivotFmt>
        <c:idx val="9"/>
        <c:spPr>
          <a:solidFill>
            <a:srgbClr val="FF0000"/>
          </a:solidFill>
          <a:ln>
            <a:noFill/>
          </a:ln>
          <a:effectLst/>
        </c:spPr>
      </c:pivotFmt>
      <c:pivotFmt>
        <c:idx val="10"/>
        <c:spPr>
          <a:solidFill>
            <a:srgbClr val="FF0000"/>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6">
              <a:lumMod val="75000"/>
            </a:schemeClr>
          </a:solidFill>
          <a:ln>
            <a:noFill/>
          </a:ln>
          <a:effectLst/>
        </c:spPr>
      </c:pivotFmt>
      <c:pivotFmt>
        <c:idx val="13"/>
        <c:spPr>
          <a:solidFill>
            <a:schemeClr val="accent6">
              <a:lumMod val="75000"/>
            </a:schemeClr>
          </a:solidFill>
          <a:ln>
            <a:noFill/>
          </a:ln>
          <a:effectLst/>
        </c:spPr>
      </c:pivotFmt>
      <c:pivotFmt>
        <c:idx val="14"/>
        <c:spPr>
          <a:solidFill>
            <a:srgbClr val="FF0000"/>
          </a:solidFill>
          <a:ln>
            <a:noFill/>
          </a:ln>
          <a:effectLst/>
        </c:spPr>
      </c:pivotFmt>
      <c:pivotFmt>
        <c:idx val="15"/>
        <c:spPr>
          <a:solidFill>
            <a:srgbClr val="FF0000"/>
          </a:solidFill>
          <a:ln>
            <a:noFill/>
          </a:ln>
          <a:effectLst/>
        </c:spPr>
      </c:pivotFmt>
    </c:pivotFmts>
    <c:plotArea>
      <c:layout/>
      <c:barChart>
        <c:barDir val="bar"/>
        <c:grouping val="clustered"/>
        <c:varyColors val="0"/>
        <c:ser>
          <c:idx val="0"/>
          <c:order val="0"/>
          <c:tx>
            <c:strRef>
              <c:f>Sheet1!$B$18</c:f>
              <c:strCache>
                <c:ptCount val="1"/>
                <c:pt idx="0">
                  <c:v>Total</c:v>
                </c:pt>
              </c:strCache>
            </c:strRef>
          </c:tx>
          <c:spPr>
            <a:solidFill>
              <a:schemeClr val="accent1"/>
            </a:solidFill>
            <a:ln>
              <a:noFill/>
            </a:ln>
            <a:effectLst/>
          </c:spPr>
          <c:invertIfNegative val="0"/>
          <c:dPt>
            <c:idx val="0"/>
            <c:invertIfNegative val="0"/>
            <c:bubble3D val="0"/>
            <c:spPr>
              <a:solidFill>
                <a:schemeClr val="accent6">
                  <a:lumMod val="75000"/>
                </a:schemeClr>
              </a:solidFill>
              <a:ln>
                <a:noFill/>
              </a:ln>
              <a:effectLst/>
            </c:spPr>
            <c:extLst>
              <c:ext xmlns:c16="http://schemas.microsoft.com/office/drawing/2014/chart" uri="{C3380CC4-5D6E-409C-BE32-E72D297353CC}">
                <c16:uniqueId val="{00000001-44C9-47AD-B0FD-9A39A4048780}"/>
              </c:ext>
            </c:extLst>
          </c:dPt>
          <c:dPt>
            <c:idx val="1"/>
            <c:invertIfNegative val="0"/>
            <c:bubble3D val="0"/>
            <c:spPr>
              <a:solidFill>
                <a:schemeClr val="accent6">
                  <a:lumMod val="75000"/>
                </a:schemeClr>
              </a:solidFill>
              <a:ln>
                <a:noFill/>
              </a:ln>
              <a:effectLst/>
            </c:spPr>
            <c:extLst>
              <c:ext xmlns:c16="http://schemas.microsoft.com/office/drawing/2014/chart" uri="{C3380CC4-5D6E-409C-BE32-E72D297353CC}">
                <c16:uniqueId val="{00000003-44C9-47AD-B0FD-9A39A4048780}"/>
              </c:ext>
            </c:extLst>
          </c:dPt>
          <c:dPt>
            <c:idx val="2"/>
            <c:invertIfNegative val="0"/>
            <c:bubble3D val="0"/>
            <c:spPr>
              <a:solidFill>
                <a:srgbClr val="FF0000"/>
              </a:solidFill>
              <a:ln>
                <a:noFill/>
              </a:ln>
              <a:effectLst/>
            </c:spPr>
            <c:extLst>
              <c:ext xmlns:c16="http://schemas.microsoft.com/office/drawing/2014/chart" uri="{C3380CC4-5D6E-409C-BE32-E72D297353CC}">
                <c16:uniqueId val="{00000005-44C9-47AD-B0FD-9A39A4048780}"/>
              </c:ext>
            </c:extLst>
          </c:dPt>
          <c:dPt>
            <c:idx val="3"/>
            <c:invertIfNegative val="0"/>
            <c:bubble3D val="0"/>
            <c:spPr>
              <a:solidFill>
                <a:srgbClr val="FF0000"/>
              </a:solidFill>
              <a:ln>
                <a:noFill/>
              </a:ln>
              <a:effectLst/>
            </c:spPr>
            <c:extLst>
              <c:ext xmlns:c16="http://schemas.microsoft.com/office/drawing/2014/chart" uri="{C3380CC4-5D6E-409C-BE32-E72D297353CC}">
                <c16:uniqueId val="{00000007-44C9-47AD-B0FD-9A39A404878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Sheet1!$A$19:$A$23</c:f>
              <c:strCache>
                <c:ptCount val="4"/>
                <c:pt idx="0">
                  <c:v>Mobile App</c:v>
                </c:pt>
                <c:pt idx="1">
                  <c:v>Website</c:v>
                </c:pt>
                <c:pt idx="2">
                  <c:v>Social Commerce</c:v>
                </c:pt>
                <c:pt idx="3">
                  <c:v>Marketplace</c:v>
                </c:pt>
              </c:strCache>
            </c:strRef>
          </c:cat>
          <c:val>
            <c:numRef>
              <c:f>Sheet1!$B$19:$B$23</c:f>
              <c:numCache>
                <c:formatCode>0</c:formatCode>
                <c:ptCount val="4"/>
                <c:pt idx="0">
                  <c:v>36.3213921901528</c:v>
                </c:pt>
                <c:pt idx="1">
                  <c:v>31.595547169811319</c:v>
                </c:pt>
                <c:pt idx="2">
                  <c:v>17.109340101522843</c:v>
                </c:pt>
                <c:pt idx="3">
                  <c:v>15.397446300715989</c:v>
                </c:pt>
              </c:numCache>
            </c:numRef>
          </c:val>
          <c:extLst>
            <c:ext xmlns:c16="http://schemas.microsoft.com/office/drawing/2014/chart" uri="{C3380CC4-5D6E-409C-BE32-E72D297353CC}">
              <c16:uniqueId val="{00000008-44C9-47AD-B0FD-9A39A4048780}"/>
            </c:ext>
          </c:extLst>
        </c:ser>
        <c:dLbls>
          <c:dLblPos val="outEnd"/>
          <c:showLegendKey val="0"/>
          <c:showVal val="1"/>
          <c:showCatName val="0"/>
          <c:showSerName val="0"/>
          <c:showPercent val="0"/>
          <c:showBubbleSize val="0"/>
        </c:dLbls>
        <c:gapWidth val="182"/>
        <c:axId val="970786704"/>
        <c:axId val="970787184"/>
      </c:barChart>
      <c:catAx>
        <c:axId val="97078670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0787184"/>
        <c:crosses val="autoZero"/>
        <c:auto val="1"/>
        <c:lblAlgn val="ctr"/>
        <c:lblOffset val="100"/>
        <c:noMultiLvlLbl val="0"/>
      </c:catAx>
      <c:valAx>
        <c:axId val="970787184"/>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07867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[Project.xlsx]Sheet1!PivotTable8</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Revenue</a:t>
            </a:r>
            <a:r>
              <a:rPr lang="en-ZA" baseline="0"/>
              <a:t> Lost </a:t>
            </a:r>
            <a:endParaRPr lang="en-ZA"/>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Sheet1!$R$31:$R$32</c:f>
              <c:strCache>
                <c:ptCount val="1"/>
                <c:pt idx="0">
                  <c:v>Marketplace</c:v>
                </c:pt>
              </c:strCache>
            </c:strRef>
          </c:tx>
          <c:spPr>
            <a:ln w="28575" cap="rnd">
              <a:solidFill>
                <a:schemeClr val="accent1"/>
              </a:solidFill>
              <a:round/>
            </a:ln>
            <a:effectLst/>
          </c:spPr>
          <c:marker>
            <c:symbol val="none"/>
          </c:marker>
          <c:cat>
            <c:strRef>
              <c:f>Sheet1!$Q$33:$Q$41</c:f>
              <c:strCache>
                <c:ptCount val="8"/>
                <c:pt idx="0">
                  <c:v>Beauty</c:v>
                </c:pt>
                <c:pt idx="1">
                  <c:v>Books</c:v>
                </c:pt>
                <c:pt idx="2">
                  <c:v>Clothing</c:v>
                </c:pt>
                <c:pt idx="3">
                  <c:v>Electronics</c:v>
                </c:pt>
                <c:pt idx="4">
                  <c:v>Food &amp; Beverage</c:v>
                </c:pt>
                <c:pt idx="5">
                  <c:v>Home &amp; Kitchen</c:v>
                </c:pt>
                <c:pt idx="6">
                  <c:v>Sports</c:v>
                </c:pt>
                <c:pt idx="7">
                  <c:v>Toys</c:v>
                </c:pt>
              </c:strCache>
            </c:strRef>
          </c:cat>
          <c:val>
            <c:numRef>
              <c:f>Sheet1!$R$33:$R$41</c:f>
              <c:numCache>
                <c:formatCode>General</c:formatCode>
                <c:ptCount val="8"/>
                <c:pt idx="0">
                  <c:v>78</c:v>
                </c:pt>
                <c:pt idx="1">
                  <c:v>403.87</c:v>
                </c:pt>
                <c:pt idx="2">
                  <c:v>887.77</c:v>
                </c:pt>
                <c:pt idx="3">
                  <c:v>639.78</c:v>
                </c:pt>
                <c:pt idx="4">
                  <c:v>98.98</c:v>
                </c:pt>
                <c:pt idx="5">
                  <c:v>842.71</c:v>
                </c:pt>
                <c:pt idx="6">
                  <c:v>137.38999999999999</c:v>
                </c:pt>
                <c:pt idx="7">
                  <c:v>404.45</c:v>
                </c:pt>
              </c:numCache>
            </c:numRef>
          </c:val>
          <c:smooth val="0"/>
          <c:extLst>
            <c:ext xmlns:c16="http://schemas.microsoft.com/office/drawing/2014/chart" uri="{C3380CC4-5D6E-409C-BE32-E72D297353CC}">
              <c16:uniqueId val="{00000000-D8D2-41EB-B633-AFE99D2223FB}"/>
            </c:ext>
          </c:extLst>
        </c:ser>
        <c:ser>
          <c:idx val="1"/>
          <c:order val="1"/>
          <c:tx>
            <c:strRef>
              <c:f>Sheet1!$S$31:$S$32</c:f>
              <c:strCache>
                <c:ptCount val="1"/>
                <c:pt idx="0">
                  <c:v>Mobile App</c:v>
                </c:pt>
              </c:strCache>
            </c:strRef>
          </c:tx>
          <c:spPr>
            <a:ln w="28575" cap="rnd">
              <a:solidFill>
                <a:schemeClr val="accent2"/>
              </a:solidFill>
              <a:round/>
            </a:ln>
            <a:effectLst/>
          </c:spPr>
          <c:marker>
            <c:symbol val="none"/>
          </c:marker>
          <c:cat>
            <c:strRef>
              <c:f>Sheet1!$Q$33:$Q$41</c:f>
              <c:strCache>
                <c:ptCount val="8"/>
                <c:pt idx="0">
                  <c:v>Beauty</c:v>
                </c:pt>
                <c:pt idx="1">
                  <c:v>Books</c:v>
                </c:pt>
                <c:pt idx="2">
                  <c:v>Clothing</c:v>
                </c:pt>
                <c:pt idx="3">
                  <c:v>Electronics</c:v>
                </c:pt>
                <c:pt idx="4">
                  <c:v>Food &amp; Beverage</c:v>
                </c:pt>
                <c:pt idx="5">
                  <c:v>Home &amp; Kitchen</c:v>
                </c:pt>
                <c:pt idx="6">
                  <c:v>Sports</c:v>
                </c:pt>
                <c:pt idx="7">
                  <c:v>Toys</c:v>
                </c:pt>
              </c:strCache>
            </c:strRef>
          </c:cat>
          <c:val>
            <c:numRef>
              <c:f>Sheet1!$S$33:$S$41</c:f>
              <c:numCache>
                <c:formatCode>General</c:formatCode>
                <c:ptCount val="8"/>
                <c:pt idx="0">
                  <c:v>272.04000000000002</c:v>
                </c:pt>
                <c:pt idx="1">
                  <c:v>439.45</c:v>
                </c:pt>
                <c:pt idx="2">
                  <c:v>579.39</c:v>
                </c:pt>
                <c:pt idx="3">
                  <c:v>715.54</c:v>
                </c:pt>
                <c:pt idx="4">
                  <c:v>1185.5</c:v>
                </c:pt>
                <c:pt idx="5">
                  <c:v>343.77</c:v>
                </c:pt>
                <c:pt idx="6">
                  <c:v>720.01</c:v>
                </c:pt>
                <c:pt idx="7">
                  <c:v>1068.47</c:v>
                </c:pt>
              </c:numCache>
            </c:numRef>
          </c:val>
          <c:smooth val="0"/>
          <c:extLst>
            <c:ext xmlns:c16="http://schemas.microsoft.com/office/drawing/2014/chart" uri="{C3380CC4-5D6E-409C-BE32-E72D297353CC}">
              <c16:uniqueId val="{00000001-D8D2-41EB-B633-AFE99D2223FB}"/>
            </c:ext>
          </c:extLst>
        </c:ser>
        <c:ser>
          <c:idx val="2"/>
          <c:order val="2"/>
          <c:tx>
            <c:strRef>
              <c:f>Sheet1!$T$31:$T$32</c:f>
              <c:strCache>
                <c:ptCount val="1"/>
                <c:pt idx="0">
                  <c:v>Social Commerce</c:v>
                </c:pt>
              </c:strCache>
            </c:strRef>
          </c:tx>
          <c:spPr>
            <a:ln w="28575" cap="rnd">
              <a:solidFill>
                <a:schemeClr val="accent3"/>
              </a:solidFill>
              <a:round/>
            </a:ln>
            <a:effectLst/>
          </c:spPr>
          <c:marker>
            <c:symbol val="none"/>
          </c:marker>
          <c:cat>
            <c:strRef>
              <c:f>Sheet1!$Q$33:$Q$41</c:f>
              <c:strCache>
                <c:ptCount val="8"/>
                <c:pt idx="0">
                  <c:v>Beauty</c:v>
                </c:pt>
                <c:pt idx="1">
                  <c:v>Books</c:v>
                </c:pt>
                <c:pt idx="2">
                  <c:v>Clothing</c:v>
                </c:pt>
                <c:pt idx="3">
                  <c:v>Electronics</c:v>
                </c:pt>
                <c:pt idx="4">
                  <c:v>Food &amp; Beverage</c:v>
                </c:pt>
                <c:pt idx="5">
                  <c:v>Home &amp; Kitchen</c:v>
                </c:pt>
                <c:pt idx="6">
                  <c:v>Sports</c:v>
                </c:pt>
                <c:pt idx="7">
                  <c:v>Toys</c:v>
                </c:pt>
              </c:strCache>
            </c:strRef>
          </c:cat>
          <c:val>
            <c:numRef>
              <c:f>Sheet1!$T$33:$T$41</c:f>
              <c:numCache>
                <c:formatCode>General</c:formatCode>
                <c:ptCount val="8"/>
                <c:pt idx="0">
                  <c:v>22.46</c:v>
                </c:pt>
                <c:pt idx="1">
                  <c:v>475.14</c:v>
                </c:pt>
                <c:pt idx="2">
                  <c:v>376.95</c:v>
                </c:pt>
                <c:pt idx="3">
                  <c:v>345.34</c:v>
                </c:pt>
                <c:pt idx="4">
                  <c:v>354.85</c:v>
                </c:pt>
                <c:pt idx="5">
                  <c:v>590.54999999999995</c:v>
                </c:pt>
                <c:pt idx="6">
                  <c:v>11.82</c:v>
                </c:pt>
                <c:pt idx="7">
                  <c:v>204.54</c:v>
                </c:pt>
              </c:numCache>
            </c:numRef>
          </c:val>
          <c:smooth val="0"/>
          <c:extLst>
            <c:ext xmlns:c16="http://schemas.microsoft.com/office/drawing/2014/chart" uri="{C3380CC4-5D6E-409C-BE32-E72D297353CC}">
              <c16:uniqueId val="{00000002-D8D2-41EB-B633-AFE99D2223FB}"/>
            </c:ext>
          </c:extLst>
        </c:ser>
        <c:ser>
          <c:idx val="3"/>
          <c:order val="3"/>
          <c:tx>
            <c:strRef>
              <c:f>Sheet1!$U$31:$U$32</c:f>
              <c:strCache>
                <c:ptCount val="1"/>
                <c:pt idx="0">
                  <c:v>Website</c:v>
                </c:pt>
              </c:strCache>
            </c:strRef>
          </c:tx>
          <c:spPr>
            <a:ln w="28575" cap="rnd">
              <a:solidFill>
                <a:schemeClr val="accent4"/>
              </a:solidFill>
              <a:round/>
            </a:ln>
            <a:effectLst/>
          </c:spPr>
          <c:marker>
            <c:symbol val="none"/>
          </c:marker>
          <c:cat>
            <c:strRef>
              <c:f>Sheet1!$Q$33:$Q$41</c:f>
              <c:strCache>
                <c:ptCount val="8"/>
                <c:pt idx="0">
                  <c:v>Beauty</c:v>
                </c:pt>
                <c:pt idx="1">
                  <c:v>Books</c:v>
                </c:pt>
                <c:pt idx="2">
                  <c:v>Clothing</c:v>
                </c:pt>
                <c:pt idx="3">
                  <c:v>Electronics</c:v>
                </c:pt>
                <c:pt idx="4">
                  <c:v>Food &amp; Beverage</c:v>
                </c:pt>
                <c:pt idx="5">
                  <c:v>Home &amp; Kitchen</c:v>
                </c:pt>
                <c:pt idx="6">
                  <c:v>Sports</c:v>
                </c:pt>
                <c:pt idx="7">
                  <c:v>Toys</c:v>
                </c:pt>
              </c:strCache>
            </c:strRef>
          </c:cat>
          <c:val>
            <c:numRef>
              <c:f>Sheet1!$U$33:$U$41</c:f>
              <c:numCache>
                <c:formatCode>General</c:formatCode>
                <c:ptCount val="8"/>
                <c:pt idx="0">
                  <c:v>493.2</c:v>
                </c:pt>
                <c:pt idx="1">
                  <c:v>787.9</c:v>
                </c:pt>
                <c:pt idx="2">
                  <c:v>1365.1</c:v>
                </c:pt>
                <c:pt idx="3">
                  <c:v>2377.61</c:v>
                </c:pt>
                <c:pt idx="4">
                  <c:v>1865.23</c:v>
                </c:pt>
                <c:pt idx="5">
                  <c:v>563.07000000000005</c:v>
                </c:pt>
                <c:pt idx="6">
                  <c:v>1139.22</c:v>
                </c:pt>
                <c:pt idx="7">
                  <c:v>792.35</c:v>
                </c:pt>
              </c:numCache>
            </c:numRef>
          </c:val>
          <c:smooth val="0"/>
          <c:extLst>
            <c:ext xmlns:c16="http://schemas.microsoft.com/office/drawing/2014/chart" uri="{C3380CC4-5D6E-409C-BE32-E72D297353CC}">
              <c16:uniqueId val="{00000003-D8D2-41EB-B633-AFE99D2223FB}"/>
            </c:ext>
          </c:extLst>
        </c:ser>
        <c:dLbls>
          <c:showLegendKey val="0"/>
          <c:showVal val="0"/>
          <c:showCatName val="0"/>
          <c:showSerName val="0"/>
          <c:showPercent val="0"/>
          <c:showBubbleSize val="0"/>
        </c:dLbls>
        <c:smooth val="0"/>
        <c:axId val="1129621280"/>
        <c:axId val="1129620320"/>
      </c:lineChart>
      <c:catAx>
        <c:axId val="11296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9620320"/>
        <c:crosses val="autoZero"/>
        <c:auto val="1"/>
        <c:lblAlgn val="ctr"/>
        <c:lblOffset val="100"/>
        <c:noMultiLvlLbl val="0"/>
      </c:catAx>
      <c:valAx>
        <c:axId val="1129620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96212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[Project.xlsx]Sheet1!PivotTable10</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a:t>
            </a:r>
            <a:r>
              <a:rPr lang="en-US" baseline="0" dirty="0"/>
              <a:t> ROAS Per Platform</a:t>
            </a:r>
            <a:endParaRPr lang="en-US" dirty="0"/>
          </a:p>
        </c:rich>
      </c:tx>
      <c:layout>
        <c:manualLayout>
          <c:xMode val="edge"/>
          <c:yMode val="edge"/>
          <c:x val="0.28260730329612821"/>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pivotFmt>
      <c:pivotFmt>
        <c:idx val="2"/>
        <c:spPr>
          <a:solidFill>
            <a:srgbClr val="0070C0"/>
          </a:solidFill>
          <a:ln>
            <a:noFill/>
          </a:ln>
          <a:effectLst/>
        </c:spPr>
      </c:pivotFmt>
      <c:pivotFmt>
        <c:idx val="3"/>
        <c:spPr>
          <a:solidFill>
            <a:srgbClr val="0070C0"/>
          </a:solidFill>
          <a:ln>
            <a:noFill/>
          </a:ln>
          <a:effectLst/>
        </c:spPr>
      </c:pivotFmt>
      <c:pivotFmt>
        <c:idx val="4"/>
        <c:spPr>
          <a:solidFill>
            <a:srgbClr val="0070C0"/>
          </a:solidFill>
          <a:ln>
            <a:noFill/>
          </a:ln>
          <a:effectLst/>
        </c:spPr>
      </c:pivotFmt>
      <c:pivotFmt>
        <c:idx val="5"/>
        <c:spPr>
          <a:solidFill>
            <a:schemeClr val="accent6">
              <a:lumMod val="75000"/>
            </a:schemeClr>
          </a:solidFill>
          <a:ln>
            <a:noFill/>
          </a:ln>
          <a:effectLst/>
        </c:spPr>
      </c:pivotFmt>
      <c:pivotFmt>
        <c:idx val="6"/>
        <c:spPr>
          <a:solidFill>
            <a:schemeClr val="accent6">
              <a:lumMod val="75000"/>
            </a:schemeClr>
          </a:solidFill>
          <a:ln>
            <a:noFill/>
          </a:ln>
          <a:effectLst/>
        </c:spPr>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0000"/>
          </a:solidFill>
          <a:ln>
            <a:noFill/>
          </a:ln>
          <a:effectLst/>
        </c:spPr>
      </c:pivotFmt>
      <c:pivotFmt>
        <c:idx val="9"/>
        <c:spPr>
          <a:solidFill>
            <a:srgbClr val="0070C0"/>
          </a:solidFill>
          <a:ln>
            <a:noFill/>
          </a:ln>
          <a:effectLst/>
        </c:spPr>
      </c:pivotFmt>
      <c:pivotFmt>
        <c:idx val="10"/>
        <c:spPr>
          <a:solidFill>
            <a:srgbClr val="0070C0"/>
          </a:solidFill>
          <a:ln>
            <a:noFill/>
          </a:ln>
          <a:effectLst/>
        </c:spPr>
      </c:pivotFmt>
      <c:pivotFmt>
        <c:idx val="11"/>
        <c:spPr>
          <a:solidFill>
            <a:srgbClr val="0070C0"/>
          </a:solidFill>
          <a:ln>
            <a:noFill/>
          </a:ln>
          <a:effectLst/>
        </c:spPr>
      </c:pivotFmt>
      <c:pivotFmt>
        <c:idx val="12"/>
        <c:spPr>
          <a:solidFill>
            <a:schemeClr val="accent6">
              <a:lumMod val="75000"/>
            </a:schemeClr>
          </a:solidFill>
          <a:ln>
            <a:noFill/>
          </a:ln>
          <a:effectLst/>
        </c:spPr>
      </c:pivotFmt>
      <c:pivotFmt>
        <c:idx val="13"/>
        <c:spPr>
          <a:solidFill>
            <a:schemeClr val="accent6">
              <a:lumMod val="75000"/>
            </a:schemeClr>
          </a:solidFill>
          <a:ln>
            <a:noFill/>
          </a:ln>
          <a:effectLst/>
        </c:spPr>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FF0000"/>
          </a:solidFill>
          <a:ln>
            <a:noFill/>
          </a:ln>
          <a:effectLst/>
        </c:spPr>
      </c:pivotFmt>
      <c:pivotFmt>
        <c:idx val="16"/>
        <c:spPr>
          <a:solidFill>
            <a:srgbClr val="0070C0"/>
          </a:solidFill>
          <a:ln>
            <a:noFill/>
          </a:ln>
          <a:effectLst/>
        </c:spPr>
      </c:pivotFmt>
      <c:pivotFmt>
        <c:idx val="17"/>
        <c:spPr>
          <a:solidFill>
            <a:srgbClr val="0070C0"/>
          </a:solidFill>
          <a:ln>
            <a:noFill/>
          </a:ln>
          <a:effectLst/>
        </c:spPr>
      </c:pivotFmt>
      <c:pivotFmt>
        <c:idx val="18"/>
        <c:spPr>
          <a:solidFill>
            <a:srgbClr val="0070C0"/>
          </a:solidFill>
          <a:ln>
            <a:noFill/>
          </a:ln>
          <a:effectLst/>
        </c:spPr>
      </c:pivotFmt>
      <c:pivotFmt>
        <c:idx val="19"/>
        <c:spPr>
          <a:solidFill>
            <a:schemeClr val="accent6">
              <a:lumMod val="75000"/>
            </a:schemeClr>
          </a:solidFill>
          <a:ln>
            <a:noFill/>
          </a:ln>
          <a:effectLst/>
        </c:spPr>
      </c:pivotFmt>
      <c:pivotFmt>
        <c:idx val="20"/>
        <c:spPr>
          <a:solidFill>
            <a:schemeClr val="accent6">
              <a:lumMod val="75000"/>
            </a:schemeClr>
          </a:solidFill>
          <a:ln>
            <a:noFill/>
          </a:ln>
          <a:effectLst/>
        </c:spPr>
      </c:pivotFmt>
    </c:pivotFmts>
    <c:plotArea>
      <c:layout/>
      <c:barChart>
        <c:barDir val="col"/>
        <c:grouping val="clustered"/>
        <c:varyColors val="0"/>
        <c:ser>
          <c:idx val="0"/>
          <c:order val="0"/>
          <c:tx>
            <c:strRef>
              <c:f>Sheet1!$B$63</c:f>
              <c:strCache>
                <c:ptCount val="1"/>
                <c:pt idx="0">
                  <c:v>Total</c:v>
                </c:pt>
              </c:strCache>
            </c:strRef>
          </c:tx>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6948-44B2-B129-C810F184A75D}"/>
              </c:ext>
            </c:extLst>
          </c:dPt>
          <c:dPt>
            <c:idx val="1"/>
            <c:invertIfNegative val="0"/>
            <c:bubble3D val="0"/>
            <c:spPr>
              <a:solidFill>
                <a:srgbClr val="0070C0"/>
              </a:solidFill>
              <a:ln>
                <a:noFill/>
              </a:ln>
              <a:effectLst/>
            </c:spPr>
            <c:extLst>
              <c:ext xmlns:c16="http://schemas.microsoft.com/office/drawing/2014/chart" uri="{C3380CC4-5D6E-409C-BE32-E72D297353CC}">
                <c16:uniqueId val="{00000003-6948-44B2-B129-C810F184A75D}"/>
              </c:ext>
            </c:extLst>
          </c:dPt>
          <c:dPt>
            <c:idx val="2"/>
            <c:invertIfNegative val="0"/>
            <c:bubble3D val="0"/>
            <c:spPr>
              <a:solidFill>
                <a:srgbClr val="0070C0"/>
              </a:solidFill>
              <a:ln>
                <a:noFill/>
              </a:ln>
              <a:effectLst/>
            </c:spPr>
            <c:extLst>
              <c:ext xmlns:c16="http://schemas.microsoft.com/office/drawing/2014/chart" uri="{C3380CC4-5D6E-409C-BE32-E72D297353CC}">
                <c16:uniqueId val="{00000005-6948-44B2-B129-C810F184A75D}"/>
              </c:ext>
            </c:extLst>
          </c:dPt>
          <c:dPt>
            <c:idx val="3"/>
            <c:invertIfNegative val="0"/>
            <c:bubble3D val="0"/>
            <c:spPr>
              <a:solidFill>
                <a:srgbClr val="0070C0"/>
              </a:solidFill>
              <a:ln>
                <a:noFill/>
              </a:ln>
              <a:effectLst/>
            </c:spPr>
            <c:extLst>
              <c:ext xmlns:c16="http://schemas.microsoft.com/office/drawing/2014/chart" uri="{C3380CC4-5D6E-409C-BE32-E72D297353CC}">
                <c16:uniqueId val="{00000007-6948-44B2-B129-C810F184A75D}"/>
              </c:ext>
            </c:extLst>
          </c:dPt>
          <c:dPt>
            <c:idx val="4"/>
            <c:invertIfNegative val="0"/>
            <c:bubble3D val="0"/>
            <c:spPr>
              <a:solidFill>
                <a:schemeClr val="accent6">
                  <a:lumMod val="75000"/>
                </a:schemeClr>
              </a:solidFill>
              <a:ln>
                <a:noFill/>
              </a:ln>
              <a:effectLst/>
            </c:spPr>
            <c:extLst>
              <c:ext xmlns:c16="http://schemas.microsoft.com/office/drawing/2014/chart" uri="{C3380CC4-5D6E-409C-BE32-E72D297353CC}">
                <c16:uniqueId val="{00000009-6948-44B2-B129-C810F184A75D}"/>
              </c:ext>
            </c:extLst>
          </c:dPt>
          <c:dPt>
            <c:idx val="5"/>
            <c:invertIfNegative val="0"/>
            <c:bubble3D val="0"/>
            <c:spPr>
              <a:solidFill>
                <a:schemeClr val="accent6">
                  <a:lumMod val="75000"/>
                </a:schemeClr>
              </a:solidFill>
              <a:ln>
                <a:noFill/>
              </a:ln>
              <a:effectLst/>
            </c:spPr>
            <c:extLst>
              <c:ext xmlns:c16="http://schemas.microsoft.com/office/drawing/2014/chart" uri="{C3380CC4-5D6E-409C-BE32-E72D297353CC}">
                <c16:uniqueId val="{0000000B-6948-44B2-B129-C810F184A75D}"/>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Sheet1!$A$64:$A$70</c:f>
              <c:strCache>
                <c:ptCount val="6"/>
                <c:pt idx="0">
                  <c:v>Email Marketing</c:v>
                </c:pt>
                <c:pt idx="1">
                  <c:v>Facebook Ads</c:v>
                </c:pt>
                <c:pt idx="2">
                  <c:v>Google Ads</c:v>
                </c:pt>
                <c:pt idx="3">
                  <c:v>Instagram Ads</c:v>
                </c:pt>
                <c:pt idx="4">
                  <c:v>Influencer</c:v>
                </c:pt>
                <c:pt idx="5">
                  <c:v>TikTok Ads</c:v>
                </c:pt>
              </c:strCache>
            </c:strRef>
          </c:cat>
          <c:val>
            <c:numRef>
              <c:f>Sheet1!$B$64:$B$70</c:f>
              <c:numCache>
                <c:formatCode>0</c:formatCode>
                <c:ptCount val="6"/>
                <c:pt idx="0">
                  <c:v>5.4054166666666665</c:v>
                </c:pt>
                <c:pt idx="1">
                  <c:v>11.254583333333334</c:v>
                </c:pt>
                <c:pt idx="2">
                  <c:v>13.688749999999999</c:v>
                </c:pt>
                <c:pt idx="3">
                  <c:v>16.989999999999998</c:v>
                </c:pt>
                <c:pt idx="4">
                  <c:v>23.446666666666669</c:v>
                </c:pt>
                <c:pt idx="5">
                  <c:v>24.435416666666669</c:v>
                </c:pt>
              </c:numCache>
            </c:numRef>
          </c:val>
          <c:extLst>
            <c:ext xmlns:c16="http://schemas.microsoft.com/office/drawing/2014/chart" uri="{C3380CC4-5D6E-409C-BE32-E72D297353CC}">
              <c16:uniqueId val="{0000000C-6948-44B2-B129-C810F184A75D}"/>
            </c:ext>
          </c:extLst>
        </c:ser>
        <c:dLbls>
          <c:dLblPos val="outEnd"/>
          <c:showLegendKey val="0"/>
          <c:showVal val="1"/>
          <c:showCatName val="0"/>
          <c:showSerName val="0"/>
          <c:showPercent val="0"/>
          <c:showBubbleSize val="0"/>
        </c:dLbls>
        <c:gapWidth val="219"/>
        <c:overlap val="-27"/>
        <c:axId val="1134930880"/>
        <c:axId val="1134931360"/>
      </c:barChart>
      <c:catAx>
        <c:axId val="1134930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34931360"/>
        <c:crosses val="autoZero"/>
        <c:auto val="1"/>
        <c:lblAlgn val="ctr"/>
        <c:lblOffset val="100"/>
        <c:noMultiLvlLbl val="0"/>
      </c:catAx>
      <c:valAx>
        <c:axId val="113493136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349308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[Project.xlsx]Sheet1!PivotTable11</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Monthly</a:t>
            </a:r>
            <a:r>
              <a:rPr lang="en-ZA" baseline="0"/>
              <a:t> ROAS Trends (Key Platforms)</a:t>
            </a:r>
            <a:endParaRPr lang="en-ZA"/>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w="28575" cap="rnd">
            <a:solidFill>
              <a:srgbClr val="FF0000"/>
            </a:solidFill>
            <a:round/>
          </a:ln>
          <a:effectLst/>
        </c:spPr>
        <c:marker>
          <c:symbol val="none"/>
        </c:marker>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6">
                <a:lumMod val="75000"/>
              </a:schemeClr>
            </a:solidFill>
            <a:round/>
          </a:ln>
          <a:effectLst/>
        </c:spPr>
        <c:marker>
          <c:symbol val="none"/>
        </c:marker>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002060"/>
            </a:solidFill>
            <a:round/>
          </a:ln>
          <a:effectLst/>
        </c:spPr>
        <c:marker>
          <c:symbol val="none"/>
        </c:marker>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rgbClr val="FF0000"/>
            </a:solidFill>
            <a:round/>
          </a:ln>
          <a:effectLst/>
        </c:spPr>
        <c:marker>
          <c:symbol val="none"/>
        </c:marker>
      </c:pivotFmt>
      <c:pivotFmt>
        <c:idx val="20"/>
        <c:spPr>
          <a:solidFill>
            <a:schemeClr val="accent1"/>
          </a:solidFill>
          <a:ln w="28575" cap="rnd">
            <a:solidFill>
              <a:srgbClr val="FF000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6">
                <a:lumMod val="7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rgbClr val="00206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rgbClr val="FF000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6">
                <a:lumMod val="7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rgbClr val="00206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Sheet1!$I$63:$I$64</c:f>
              <c:strCache>
                <c:ptCount val="1"/>
                <c:pt idx="0">
                  <c:v>Email Marketing</c:v>
                </c:pt>
              </c:strCache>
            </c:strRef>
          </c:tx>
          <c:spPr>
            <a:ln w="28575" cap="rnd">
              <a:solidFill>
                <a:srgbClr val="FF0000"/>
              </a:solidFill>
              <a:round/>
            </a:ln>
            <a:effectLst/>
          </c:spPr>
          <c:marker>
            <c:symbol val="none"/>
          </c:marker>
          <c:cat>
            <c:strRef>
              <c:f>Sheet1!$H$65:$H$77</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Sheet1!$I$65:$I$77</c:f>
              <c:numCache>
                <c:formatCode>General</c:formatCode>
                <c:ptCount val="12"/>
                <c:pt idx="0">
                  <c:v>4.9950000000000001</c:v>
                </c:pt>
                <c:pt idx="1">
                  <c:v>5.8049999999999997</c:v>
                </c:pt>
                <c:pt idx="2">
                  <c:v>11.61</c:v>
                </c:pt>
                <c:pt idx="3">
                  <c:v>6.43</c:v>
                </c:pt>
                <c:pt idx="4">
                  <c:v>8.2149999999999999</c:v>
                </c:pt>
                <c:pt idx="5">
                  <c:v>2.5099999999999998</c:v>
                </c:pt>
                <c:pt idx="6">
                  <c:v>4.6849999999999996</c:v>
                </c:pt>
                <c:pt idx="7">
                  <c:v>6.04</c:v>
                </c:pt>
                <c:pt idx="8">
                  <c:v>5.62</c:v>
                </c:pt>
                <c:pt idx="9">
                  <c:v>1.865</c:v>
                </c:pt>
                <c:pt idx="10">
                  <c:v>3.3650000000000002</c:v>
                </c:pt>
                <c:pt idx="11">
                  <c:v>3.7250000000000001</c:v>
                </c:pt>
              </c:numCache>
            </c:numRef>
          </c:val>
          <c:smooth val="0"/>
          <c:extLst>
            <c:ext xmlns:c16="http://schemas.microsoft.com/office/drawing/2014/chart" uri="{C3380CC4-5D6E-409C-BE32-E72D297353CC}">
              <c16:uniqueId val="{00000000-076C-4A2D-8C5D-49F966094439}"/>
            </c:ext>
          </c:extLst>
        </c:ser>
        <c:ser>
          <c:idx val="1"/>
          <c:order val="1"/>
          <c:tx>
            <c:strRef>
              <c:f>Sheet1!$J$63:$J$64</c:f>
              <c:strCache>
                <c:ptCount val="1"/>
                <c:pt idx="0">
                  <c:v>Influencer</c:v>
                </c:pt>
              </c:strCache>
            </c:strRef>
          </c:tx>
          <c:spPr>
            <a:ln w="28575" cap="rnd">
              <a:solidFill>
                <a:schemeClr val="accent6">
                  <a:lumMod val="75000"/>
                </a:schemeClr>
              </a:solidFill>
              <a:round/>
            </a:ln>
            <a:effectLst/>
          </c:spPr>
          <c:marker>
            <c:symbol val="none"/>
          </c:marker>
          <c:cat>
            <c:strRef>
              <c:f>Sheet1!$H$65:$H$77</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Sheet1!$J$65:$J$77</c:f>
              <c:numCache>
                <c:formatCode>General</c:formatCode>
                <c:ptCount val="12"/>
                <c:pt idx="0">
                  <c:v>9.2149999999999999</c:v>
                </c:pt>
                <c:pt idx="1">
                  <c:v>46.07</c:v>
                </c:pt>
                <c:pt idx="2">
                  <c:v>12.904999999999999</c:v>
                </c:pt>
                <c:pt idx="3">
                  <c:v>14.065</c:v>
                </c:pt>
                <c:pt idx="4">
                  <c:v>21.145</c:v>
                </c:pt>
                <c:pt idx="5">
                  <c:v>44.645000000000003</c:v>
                </c:pt>
                <c:pt idx="6">
                  <c:v>17.16</c:v>
                </c:pt>
                <c:pt idx="7">
                  <c:v>18.5</c:v>
                </c:pt>
                <c:pt idx="8">
                  <c:v>11.08</c:v>
                </c:pt>
                <c:pt idx="9">
                  <c:v>40.924999999999997</c:v>
                </c:pt>
                <c:pt idx="10">
                  <c:v>26.765000000000001</c:v>
                </c:pt>
                <c:pt idx="11">
                  <c:v>18.885000000000002</c:v>
                </c:pt>
              </c:numCache>
            </c:numRef>
          </c:val>
          <c:smooth val="0"/>
          <c:extLst>
            <c:ext xmlns:c16="http://schemas.microsoft.com/office/drawing/2014/chart" uri="{C3380CC4-5D6E-409C-BE32-E72D297353CC}">
              <c16:uniqueId val="{00000001-076C-4A2D-8C5D-49F966094439}"/>
            </c:ext>
          </c:extLst>
        </c:ser>
        <c:ser>
          <c:idx val="2"/>
          <c:order val="2"/>
          <c:tx>
            <c:strRef>
              <c:f>Sheet1!$K$63:$K$64</c:f>
              <c:strCache>
                <c:ptCount val="1"/>
                <c:pt idx="0">
                  <c:v>TikTok Ads</c:v>
                </c:pt>
              </c:strCache>
            </c:strRef>
          </c:tx>
          <c:spPr>
            <a:ln w="28575" cap="rnd">
              <a:solidFill>
                <a:srgbClr val="002060"/>
              </a:solidFill>
              <a:round/>
            </a:ln>
            <a:effectLst/>
          </c:spPr>
          <c:marker>
            <c:symbol val="none"/>
          </c:marker>
          <c:cat>
            <c:strRef>
              <c:f>Sheet1!$H$65:$H$77</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Sheet1!$K$65:$K$77</c:f>
              <c:numCache>
                <c:formatCode>General</c:formatCode>
                <c:ptCount val="12"/>
                <c:pt idx="0">
                  <c:v>28.69</c:v>
                </c:pt>
                <c:pt idx="1">
                  <c:v>29.68</c:v>
                </c:pt>
                <c:pt idx="2">
                  <c:v>36.869999999999997</c:v>
                </c:pt>
                <c:pt idx="3">
                  <c:v>35.07</c:v>
                </c:pt>
                <c:pt idx="4">
                  <c:v>18.04</c:v>
                </c:pt>
                <c:pt idx="5">
                  <c:v>18.690000000000001</c:v>
                </c:pt>
                <c:pt idx="6">
                  <c:v>17.664999999999999</c:v>
                </c:pt>
                <c:pt idx="7">
                  <c:v>16.190000000000001</c:v>
                </c:pt>
                <c:pt idx="8">
                  <c:v>20.094999999999999</c:v>
                </c:pt>
                <c:pt idx="9">
                  <c:v>28.39</c:v>
                </c:pt>
                <c:pt idx="10">
                  <c:v>24.3</c:v>
                </c:pt>
                <c:pt idx="11">
                  <c:v>19.545000000000002</c:v>
                </c:pt>
              </c:numCache>
            </c:numRef>
          </c:val>
          <c:smooth val="0"/>
          <c:extLst>
            <c:ext xmlns:c16="http://schemas.microsoft.com/office/drawing/2014/chart" uri="{C3380CC4-5D6E-409C-BE32-E72D297353CC}">
              <c16:uniqueId val="{00000002-076C-4A2D-8C5D-49F966094439}"/>
            </c:ext>
          </c:extLst>
        </c:ser>
        <c:dLbls>
          <c:showLegendKey val="0"/>
          <c:showVal val="0"/>
          <c:showCatName val="0"/>
          <c:showSerName val="0"/>
          <c:showPercent val="0"/>
          <c:showBubbleSize val="0"/>
        </c:dLbls>
        <c:smooth val="0"/>
        <c:axId val="1127822159"/>
        <c:axId val="1127816399"/>
      </c:lineChart>
      <c:catAx>
        <c:axId val="1127822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7816399"/>
        <c:crosses val="autoZero"/>
        <c:auto val="1"/>
        <c:lblAlgn val="ctr"/>
        <c:lblOffset val="100"/>
        <c:noMultiLvlLbl val="0"/>
      </c:catAx>
      <c:valAx>
        <c:axId val="11278163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7822159"/>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379CB6-AF15-4D7B-AEC4-759E4CC10BBF}" type="datetimeFigureOut">
              <a:rPr lang="en-ZA" smtClean="0"/>
              <a:t>2026/03/22</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918464-1681-4C1A-AD8C-428FADD2E995}" type="slidenum">
              <a:rPr lang="en-ZA" smtClean="0"/>
              <a:t>‹#›</a:t>
            </a:fld>
            <a:endParaRPr lang="en-ZA"/>
          </a:p>
        </p:txBody>
      </p:sp>
    </p:spTree>
    <p:extLst>
      <p:ext uri="{BB962C8B-B14F-4D97-AF65-F5344CB8AC3E}">
        <p14:creationId xmlns:p14="http://schemas.microsoft.com/office/powerpoint/2010/main" val="97560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E9918464-1681-4C1A-AD8C-428FADD2E995}" type="slidenum">
              <a:rPr lang="en-ZA" smtClean="0"/>
              <a:t>1</a:t>
            </a:fld>
            <a:endParaRPr lang="en-ZA"/>
          </a:p>
        </p:txBody>
      </p:sp>
    </p:spTree>
    <p:extLst>
      <p:ext uri="{BB962C8B-B14F-4D97-AF65-F5344CB8AC3E}">
        <p14:creationId xmlns:p14="http://schemas.microsoft.com/office/powerpoint/2010/main" val="3539348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FC2B8-5572-5ACF-1F49-7A2E6B2243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B9B76DC8-5996-009A-19C4-CB05A1BEC7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61243DE5-9A2D-602E-8927-67788A02C2BD}"/>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5" name="Footer Placeholder 4">
            <a:extLst>
              <a:ext uri="{FF2B5EF4-FFF2-40B4-BE49-F238E27FC236}">
                <a16:creationId xmlns:a16="http://schemas.microsoft.com/office/drawing/2014/main" id="{5F8472AF-651C-8DF3-8F8B-88574DFF678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F70ADB8-713C-FBB4-69DD-806655BB8858}"/>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3664102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E3F6-6091-233E-DEF8-920CFDE9A31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20742F5-C547-C378-878B-D061ACF123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2264B9D-D779-855E-5521-0BA09D00BB6F}"/>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5" name="Footer Placeholder 4">
            <a:extLst>
              <a:ext uri="{FF2B5EF4-FFF2-40B4-BE49-F238E27FC236}">
                <a16:creationId xmlns:a16="http://schemas.microsoft.com/office/drawing/2014/main" id="{5B4F8068-378C-E2E8-63F6-B2143FD6D18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A9A71ED-E303-FB2F-0DEA-60DDEE766159}"/>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1320646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3CF3A-44A9-F905-1D46-7D9D4A8689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A6B8B6C3-FA5C-1346-9274-746BBE41AD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346530-87B8-DC6C-8A1A-D877A2FE9874}"/>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5" name="Footer Placeholder 4">
            <a:extLst>
              <a:ext uri="{FF2B5EF4-FFF2-40B4-BE49-F238E27FC236}">
                <a16:creationId xmlns:a16="http://schemas.microsoft.com/office/drawing/2014/main" id="{F88559B0-107A-9937-7946-0122F02FED2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505480F-328A-188B-419E-C4BD1BBD4954}"/>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693133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52E5D-88A4-430E-729E-A317DE9C2921}"/>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7066D50E-E5D0-0FEC-4598-800E7E7FFB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A4F46950-C033-5F4C-5C28-C214EB0287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5AEEF655-74E6-995E-D6A5-0DC3FE5F961B}"/>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6" name="Footer Placeholder 5">
            <a:extLst>
              <a:ext uri="{FF2B5EF4-FFF2-40B4-BE49-F238E27FC236}">
                <a16:creationId xmlns:a16="http://schemas.microsoft.com/office/drawing/2014/main" id="{C10603C8-8177-BFB7-E2F3-1E0EE080850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D0EF7EB-B809-E53B-C2BF-4B7515F67A5F}"/>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499560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4EB70-8BE5-C9B9-65F2-49E845BBC15E}"/>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2F9E430-41B2-F277-3D95-5BD7CDC751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7EDBC9-8543-1EF6-5134-79C749D4A3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86E70F92-9213-3330-8DCE-EE6FF7B44F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94E638-B473-B9F4-4883-5555233403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A220689D-0E35-C0B0-32D3-AA7F8BE376B8}"/>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8" name="Footer Placeholder 7">
            <a:extLst>
              <a:ext uri="{FF2B5EF4-FFF2-40B4-BE49-F238E27FC236}">
                <a16:creationId xmlns:a16="http://schemas.microsoft.com/office/drawing/2014/main" id="{4D837622-222A-964F-598E-48DB3B407F14}"/>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7B5338ED-E6DB-0100-07D7-6877D26587B4}"/>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1227416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8DA5-A5C6-FF84-C0DB-35974EBE5CB3}"/>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4E37C1CC-E654-F1D6-359B-410EF8612D22}"/>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4" name="Footer Placeholder 3">
            <a:extLst>
              <a:ext uri="{FF2B5EF4-FFF2-40B4-BE49-F238E27FC236}">
                <a16:creationId xmlns:a16="http://schemas.microsoft.com/office/drawing/2014/main" id="{DBEE6624-63B1-BDD3-C2AE-8C6FB4505775}"/>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B01C7997-38DA-F560-71C0-2FF465B11289}"/>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4072865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B0E08F-885F-A4D1-64AC-26451C1ABC0A}"/>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3" name="Footer Placeholder 2">
            <a:extLst>
              <a:ext uri="{FF2B5EF4-FFF2-40B4-BE49-F238E27FC236}">
                <a16:creationId xmlns:a16="http://schemas.microsoft.com/office/drawing/2014/main" id="{6FA12388-BC0F-5651-45FC-6D2CC1C3C64B}"/>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366684D-9FFA-3DBE-3985-06B35BB934D9}"/>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2598440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4B9A6-8B1F-D1CD-112E-6C51BBE946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70646C4C-E713-377E-7036-443CF8E78F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701A6D78-7CF4-EA04-2D97-BC5F862CBE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D8BD48-A908-583A-C13D-7FD1B4DF75DE}"/>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6" name="Footer Placeholder 5">
            <a:extLst>
              <a:ext uri="{FF2B5EF4-FFF2-40B4-BE49-F238E27FC236}">
                <a16:creationId xmlns:a16="http://schemas.microsoft.com/office/drawing/2014/main" id="{F3D325A9-8B6B-4925-81D6-D9A986341E6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0D365DB-53E0-1FE5-857C-7C1E57E643BC}"/>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3273159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D2E1F-7ABE-DA9B-E275-BA4654C99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AD7F394A-98B8-333D-FFC6-E4D7DE1C2A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7AE25C4F-09CA-7C36-D991-C7A38A142E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062A13-ACD4-ADE4-E6A7-DC497155530A}"/>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6" name="Footer Placeholder 5">
            <a:extLst>
              <a:ext uri="{FF2B5EF4-FFF2-40B4-BE49-F238E27FC236}">
                <a16:creationId xmlns:a16="http://schemas.microsoft.com/office/drawing/2014/main" id="{CC80AFD5-5565-519B-6D51-3E958458C21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E459DD1-A89D-017F-39C0-60178E149036}"/>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4093012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072EA-E2B5-4FA2-727C-0362130D6354}"/>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2ECCF6CF-0017-E46D-3726-DA540E5A9C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AB3F15B-DCF5-4FD9-9068-710196138DB1}"/>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5" name="Footer Placeholder 4">
            <a:extLst>
              <a:ext uri="{FF2B5EF4-FFF2-40B4-BE49-F238E27FC236}">
                <a16:creationId xmlns:a16="http://schemas.microsoft.com/office/drawing/2014/main" id="{697AA78C-EF4C-6451-B7E9-4D2732CF643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BF5213B-D93A-D75A-6219-DCB782E5235E}"/>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72739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6DD17A-D8F0-5DAD-C48B-3C425D5138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D7E07CB-C511-0A98-ED0F-F7BA3D7ACD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4CBF191-8781-0503-8CA3-C44EB0CBECAF}"/>
              </a:ext>
            </a:extLst>
          </p:cNvPr>
          <p:cNvSpPr>
            <a:spLocks noGrp="1"/>
          </p:cNvSpPr>
          <p:nvPr>
            <p:ph type="dt" sz="half" idx="10"/>
          </p:nvPr>
        </p:nvSpPr>
        <p:spPr/>
        <p:txBody>
          <a:bodyPr/>
          <a:lstStyle/>
          <a:p>
            <a:fld id="{785C69C6-42AA-4A53-9472-07E85EECFEE6}" type="datetimeFigureOut">
              <a:rPr lang="en-ZA" smtClean="0"/>
              <a:t>2026/03/22</a:t>
            </a:fld>
            <a:endParaRPr lang="en-ZA"/>
          </a:p>
        </p:txBody>
      </p:sp>
      <p:sp>
        <p:nvSpPr>
          <p:cNvPr id="5" name="Footer Placeholder 4">
            <a:extLst>
              <a:ext uri="{FF2B5EF4-FFF2-40B4-BE49-F238E27FC236}">
                <a16:creationId xmlns:a16="http://schemas.microsoft.com/office/drawing/2014/main" id="{4BD1EB79-C2AC-289B-5A8B-C76501442C3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63FF058-8D30-0B10-AB6B-849D84303597}"/>
              </a:ext>
            </a:extLst>
          </p:cNvPr>
          <p:cNvSpPr>
            <a:spLocks noGrp="1"/>
          </p:cNvSpPr>
          <p:nvPr>
            <p:ph type="sldNum" sz="quarter" idx="12"/>
          </p:nvPr>
        </p:nvSpPr>
        <p:spPr/>
        <p:txBody>
          <a:bodyPr/>
          <a:lstStyle/>
          <a:p>
            <a:fld id="{A711F497-A53F-4463-9B68-42DD7FA7028F}" type="slidenum">
              <a:rPr lang="en-ZA" smtClean="0"/>
              <a:t>‹#›</a:t>
            </a:fld>
            <a:endParaRPr lang="en-ZA"/>
          </a:p>
        </p:txBody>
      </p:sp>
    </p:spTree>
    <p:extLst>
      <p:ext uri="{BB962C8B-B14F-4D97-AF65-F5344CB8AC3E}">
        <p14:creationId xmlns:p14="http://schemas.microsoft.com/office/powerpoint/2010/main" val="3564790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7205F3-C433-93CA-1CF3-DCE7880037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4EBCF4E-E442-5F62-B71A-58C071C4B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78A5919-CD20-C2E9-02A4-B7457AA3AB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5C69C6-42AA-4A53-9472-07E85EECFEE6}" type="datetimeFigureOut">
              <a:rPr lang="en-ZA" smtClean="0"/>
              <a:t>2026/03/22</a:t>
            </a:fld>
            <a:endParaRPr lang="en-ZA"/>
          </a:p>
        </p:txBody>
      </p:sp>
      <p:sp>
        <p:nvSpPr>
          <p:cNvPr id="5" name="Footer Placeholder 4">
            <a:extLst>
              <a:ext uri="{FF2B5EF4-FFF2-40B4-BE49-F238E27FC236}">
                <a16:creationId xmlns:a16="http://schemas.microsoft.com/office/drawing/2014/main" id="{4FD2B68F-DAE1-21E6-E68D-9C4097E507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5118E864-2635-58EE-5793-0A3925BA49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11F497-A53F-4463-9B68-42DD7FA7028F}" type="slidenum">
              <a:rPr lang="en-ZA" smtClean="0"/>
              <a:t>‹#›</a:t>
            </a:fld>
            <a:endParaRPr lang="en-ZA"/>
          </a:p>
        </p:txBody>
      </p:sp>
    </p:spTree>
    <p:extLst>
      <p:ext uri="{BB962C8B-B14F-4D97-AF65-F5344CB8AC3E}">
        <p14:creationId xmlns:p14="http://schemas.microsoft.com/office/powerpoint/2010/main" val="4126496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3B1672-03B4-A376-A6A5-37E235E929E7}"/>
              </a:ext>
            </a:extLst>
          </p:cNvPr>
          <p:cNvPicPr>
            <a:picLocks noChangeAspect="1"/>
          </p:cNvPicPr>
          <p:nvPr/>
        </p:nvPicPr>
        <p:blipFill>
          <a:blip r:embed="rId3"/>
          <a:stretch>
            <a:fillRect/>
          </a:stretch>
        </p:blipFill>
        <p:spPr>
          <a:xfrm>
            <a:off x="0" y="0"/>
            <a:ext cx="4495800" cy="6858000"/>
          </a:xfrm>
          <a:prstGeom prst="rect">
            <a:avLst/>
          </a:prstGeom>
        </p:spPr>
      </p:pic>
      <p:sp>
        <p:nvSpPr>
          <p:cNvPr id="5" name="Rectangle 4">
            <a:extLst>
              <a:ext uri="{FF2B5EF4-FFF2-40B4-BE49-F238E27FC236}">
                <a16:creationId xmlns:a16="http://schemas.microsoft.com/office/drawing/2014/main" id="{30B01658-5BA0-F48A-9451-49226EF48197}"/>
              </a:ext>
            </a:extLst>
          </p:cNvPr>
          <p:cNvSpPr/>
          <p:nvPr/>
        </p:nvSpPr>
        <p:spPr>
          <a:xfrm>
            <a:off x="4495800" y="0"/>
            <a:ext cx="7696200"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endParaRPr lang="en-ZA" sz="3200" dirty="0">
              <a:solidFill>
                <a:schemeClr val="bg1"/>
              </a:solidFill>
            </a:endParaRPr>
          </a:p>
          <a:p>
            <a:endParaRPr lang="en-ZA" sz="3200" dirty="0">
              <a:solidFill>
                <a:schemeClr val="bg1"/>
              </a:solidFill>
            </a:endParaRPr>
          </a:p>
          <a:p>
            <a:endParaRPr lang="en-ZA" sz="3200" dirty="0">
              <a:solidFill>
                <a:schemeClr val="bg1"/>
              </a:solidFill>
            </a:endParaRPr>
          </a:p>
          <a:p>
            <a:endParaRPr lang="en-ZA" sz="3200" dirty="0">
              <a:solidFill>
                <a:schemeClr val="bg1"/>
              </a:solidFill>
            </a:endParaRPr>
          </a:p>
          <a:p>
            <a:endParaRPr lang="en-ZA" sz="3200" dirty="0">
              <a:solidFill>
                <a:schemeClr val="bg1"/>
              </a:solidFill>
            </a:endParaRPr>
          </a:p>
          <a:p>
            <a:endParaRPr lang="en-ZA" sz="3200" dirty="0">
              <a:solidFill>
                <a:schemeClr val="bg1"/>
              </a:solidFill>
            </a:endParaRPr>
          </a:p>
          <a:p>
            <a:endParaRPr lang="en-ZA" sz="3200" dirty="0">
              <a:solidFill>
                <a:schemeClr val="bg1"/>
              </a:solidFill>
            </a:endParaRPr>
          </a:p>
          <a:p>
            <a:endParaRPr lang="en-ZA" sz="3200" dirty="0">
              <a:solidFill>
                <a:schemeClr val="bg1"/>
              </a:solidFill>
            </a:endParaRPr>
          </a:p>
          <a:p>
            <a:endParaRPr lang="en-ZA" sz="3200" dirty="0">
              <a:solidFill>
                <a:schemeClr val="bg1"/>
              </a:solidFill>
            </a:endParaRPr>
          </a:p>
          <a:p>
            <a:endParaRPr lang="en-ZA" sz="3200" dirty="0">
              <a:solidFill>
                <a:schemeClr val="bg1"/>
              </a:solidFill>
            </a:endParaRPr>
          </a:p>
          <a:p>
            <a:r>
              <a:rPr lang="en-ZA" sz="3200" dirty="0">
                <a:solidFill>
                  <a:schemeClr val="bg1"/>
                </a:solidFill>
              </a:rPr>
              <a:t>E-COMMERCE PROFITABILITY &amp;MARKETING SPEND ANALYSIS</a:t>
            </a:r>
          </a:p>
          <a:p>
            <a:endParaRPr lang="en-ZA" sz="3200" dirty="0">
              <a:solidFill>
                <a:schemeClr val="bg1"/>
              </a:solidFill>
            </a:endParaRPr>
          </a:p>
          <a:p>
            <a:endParaRPr lang="en-ZA" sz="1400" dirty="0">
              <a:solidFill>
                <a:schemeClr val="bg1"/>
              </a:solidFill>
            </a:endParaRPr>
          </a:p>
          <a:p>
            <a:pPr algn="ctr"/>
            <a:r>
              <a:rPr lang="en-ZA" sz="1600" dirty="0">
                <a:solidFill>
                  <a:schemeClr val="bg1"/>
                </a:solidFill>
              </a:rPr>
              <a:t>Insights, Marketing Efficiency &amp; CEO Recommendations</a:t>
            </a:r>
          </a:p>
          <a:p>
            <a:endParaRPr lang="en-ZA" sz="3200" dirty="0">
              <a:solidFill>
                <a:schemeClr val="bg1"/>
              </a:solidFill>
            </a:endParaRPr>
          </a:p>
          <a:p>
            <a:endParaRPr lang="en-ZA" sz="3200" dirty="0">
              <a:solidFill>
                <a:schemeClr val="bg1"/>
              </a:solidFill>
            </a:endParaRPr>
          </a:p>
          <a:p>
            <a:pPr algn="ctr"/>
            <a:endParaRPr lang="en-ZA" sz="3200" dirty="0">
              <a:solidFill>
                <a:schemeClr val="bg1"/>
              </a:solidFill>
            </a:endParaRPr>
          </a:p>
          <a:p>
            <a:endParaRPr lang="en-ZA" sz="3200" dirty="0">
              <a:solidFill>
                <a:schemeClr val="bg1"/>
              </a:solidFill>
            </a:endParaRPr>
          </a:p>
        </p:txBody>
      </p:sp>
      <p:sp>
        <p:nvSpPr>
          <p:cNvPr id="7" name="Rectangle 6">
            <a:extLst>
              <a:ext uri="{FF2B5EF4-FFF2-40B4-BE49-F238E27FC236}">
                <a16:creationId xmlns:a16="http://schemas.microsoft.com/office/drawing/2014/main" id="{7A11F945-C75E-DDD0-F9F0-FEF3B89AA0B1}"/>
              </a:ext>
            </a:extLst>
          </p:cNvPr>
          <p:cNvSpPr/>
          <p:nvPr/>
        </p:nvSpPr>
        <p:spPr>
          <a:xfrm>
            <a:off x="5812970" y="5834742"/>
            <a:ext cx="5083629" cy="4571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443BFF9E-7ADA-E9FD-494A-B643AE5501EC}"/>
              </a:ext>
            </a:extLst>
          </p:cNvPr>
          <p:cNvSpPr/>
          <p:nvPr/>
        </p:nvSpPr>
        <p:spPr>
          <a:xfrm>
            <a:off x="4495800" y="0"/>
            <a:ext cx="2775856" cy="79465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err="1">
                <a:solidFill>
                  <a:schemeClr val="accent1">
                    <a:lumMod val="60000"/>
                    <a:lumOff val="40000"/>
                  </a:schemeClr>
                </a:solidFill>
              </a:rPr>
              <a:t>BrightCart</a:t>
            </a:r>
            <a:endParaRPr lang="en-ZA" dirty="0">
              <a:solidFill>
                <a:schemeClr val="accent1">
                  <a:lumMod val="60000"/>
                  <a:lumOff val="40000"/>
                </a:schemeClr>
              </a:solidFill>
            </a:endParaRPr>
          </a:p>
        </p:txBody>
      </p:sp>
    </p:spTree>
    <p:extLst>
      <p:ext uri="{BB962C8B-B14F-4D97-AF65-F5344CB8AC3E}">
        <p14:creationId xmlns:p14="http://schemas.microsoft.com/office/powerpoint/2010/main" val="552743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65896A-D8AB-98C1-C13E-27E7153863A5}"/>
              </a:ext>
            </a:extLst>
          </p:cNvPr>
          <p:cNvSpPr/>
          <p:nvPr/>
        </p:nvSpPr>
        <p:spPr>
          <a:xfrm>
            <a:off x="0" y="0"/>
            <a:ext cx="12191999" cy="10259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b="1" dirty="0"/>
              <a:t>Business Problem</a:t>
            </a:r>
          </a:p>
        </p:txBody>
      </p:sp>
      <p:sp>
        <p:nvSpPr>
          <p:cNvPr id="3" name="Rectangle 2">
            <a:extLst>
              <a:ext uri="{FF2B5EF4-FFF2-40B4-BE49-F238E27FC236}">
                <a16:creationId xmlns:a16="http://schemas.microsoft.com/office/drawing/2014/main" id="{A5344A03-5303-65F1-FAD0-0681D6A78C5C}"/>
              </a:ext>
            </a:extLst>
          </p:cNvPr>
          <p:cNvSpPr/>
          <p:nvPr/>
        </p:nvSpPr>
        <p:spPr>
          <a:xfrm>
            <a:off x="0" y="1025912"/>
            <a:ext cx="12192000" cy="7805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10">
            <a:extLst>
              <a:ext uri="{FF2B5EF4-FFF2-40B4-BE49-F238E27FC236}">
                <a16:creationId xmlns:a16="http://schemas.microsoft.com/office/drawing/2014/main" id="{E636789B-E474-809E-A0A4-2AE072F6C490}"/>
              </a:ext>
            </a:extLst>
          </p:cNvPr>
          <p:cNvSpPr/>
          <p:nvPr/>
        </p:nvSpPr>
        <p:spPr>
          <a:xfrm>
            <a:off x="204439" y="1193180"/>
            <a:ext cx="11783122" cy="1059366"/>
          </a:xfrm>
          <a:prstGeom prst="rect">
            <a:avLst/>
          </a:prstGeom>
          <a:noFill/>
          <a:ln>
            <a:solidFill>
              <a:schemeClr val="tx2">
                <a:lumMod val="50000"/>
                <a:lumOff val="50000"/>
              </a:schemeClr>
            </a:solidFill>
          </a:ln>
          <a:effectLst/>
          <a:scene3d>
            <a:camera prst="orthographicFront"/>
            <a:lightRig rig="threePt" dir="t"/>
          </a:scene3d>
          <a:sp3d extrusionH="76200">
            <a:bevelT w="0"/>
            <a:extrusionClr>
              <a:schemeClr val="bg1">
                <a:lumMod val="50000"/>
              </a:schemeClr>
            </a:extrusion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dirty="0" err="1">
                <a:solidFill>
                  <a:srgbClr val="002060"/>
                </a:solidFill>
              </a:rPr>
              <a:t>BrightCart</a:t>
            </a:r>
            <a:r>
              <a:rPr lang="en-ZA" sz="1600" dirty="0">
                <a:solidFill>
                  <a:srgbClr val="002060"/>
                </a:solidFill>
              </a:rPr>
              <a:t> is an online retailer selling products across 8 Categories and 4 Sales Channels. The company made $1M+ in gross revenue over the past two years, however the net margins have been shrinking and profitability is uneven.</a:t>
            </a:r>
          </a:p>
        </p:txBody>
      </p:sp>
      <p:sp>
        <p:nvSpPr>
          <p:cNvPr id="12" name="Rectangle 11">
            <a:extLst>
              <a:ext uri="{FF2B5EF4-FFF2-40B4-BE49-F238E27FC236}">
                <a16:creationId xmlns:a16="http://schemas.microsoft.com/office/drawing/2014/main" id="{D9D1691E-7E49-515E-BB3B-E5C504B41FB6}"/>
              </a:ext>
            </a:extLst>
          </p:cNvPr>
          <p:cNvSpPr/>
          <p:nvPr/>
        </p:nvSpPr>
        <p:spPr>
          <a:xfrm>
            <a:off x="628185" y="2720898"/>
            <a:ext cx="4880517" cy="1193180"/>
          </a:xfrm>
          <a:prstGeom prst="rect">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002060"/>
                </a:solidFill>
              </a:rPr>
              <a:t>Profitability</a:t>
            </a:r>
          </a:p>
          <a:p>
            <a:endParaRPr lang="en-GB" b="1" dirty="0">
              <a:solidFill>
                <a:srgbClr val="002060"/>
              </a:solidFill>
            </a:endParaRPr>
          </a:p>
          <a:p>
            <a:r>
              <a:rPr lang="en-ZA" sz="1600" dirty="0">
                <a:solidFill>
                  <a:srgbClr val="002060"/>
                </a:solidFill>
              </a:rPr>
              <a:t>Uneven profit across product categories and sales channels </a:t>
            </a:r>
          </a:p>
        </p:txBody>
      </p:sp>
      <p:cxnSp>
        <p:nvCxnSpPr>
          <p:cNvPr id="10" name="Straight Connector 9">
            <a:extLst>
              <a:ext uri="{FF2B5EF4-FFF2-40B4-BE49-F238E27FC236}">
                <a16:creationId xmlns:a16="http://schemas.microsoft.com/office/drawing/2014/main" id="{F24A0CD5-2E9D-56E5-47A2-083D014DB7CD}"/>
              </a:ext>
            </a:extLst>
          </p:cNvPr>
          <p:cNvCxnSpPr/>
          <p:nvPr/>
        </p:nvCxnSpPr>
        <p:spPr>
          <a:xfrm>
            <a:off x="628185" y="2720898"/>
            <a:ext cx="0" cy="1193180"/>
          </a:xfrm>
          <a:prstGeom prst="line">
            <a:avLst/>
          </a:prstGeom>
        </p:spPr>
        <p:style>
          <a:lnRef idx="3">
            <a:schemeClr val="accent2"/>
          </a:lnRef>
          <a:fillRef idx="0">
            <a:schemeClr val="accent2"/>
          </a:fillRef>
          <a:effectRef idx="2">
            <a:schemeClr val="accent2"/>
          </a:effectRef>
          <a:fontRef idx="minor">
            <a:schemeClr val="tx1"/>
          </a:fontRef>
        </p:style>
      </p:cxnSp>
      <p:sp>
        <p:nvSpPr>
          <p:cNvPr id="27" name="Rectangle 26">
            <a:extLst>
              <a:ext uri="{FF2B5EF4-FFF2-40B4-BE49-F238E27FC236}">
                <a16:creationId xmlns:a16="http://schemas.microsoft.com/office/drawing/2014/main" id="{1E3AF2B7-3CEE-D360-4246-AE2C9CB96F13}"/>
              </a:ext>
            </a:extLst>
          </p:cNvPr>
          <p:cNvSpPr/>
          <p:nvPr/>
        </p:nvSpPr>
        <p:spPr>
          <a:xfrm>
            <a:off x="622089" y="4544122"/>
            <a:ext cx="4880517" cy="1193180"/>
          </a:xfrm>
          <a:prstGeom prst="rect">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002060"/>
                </a:solidFill>
              </a:rPr>
              <a:t>Inefficient Marketing</a:t>
            </a:r>
          </a:p>
          <a:p>
            <a:endParaRPr lang="en-GB" b="1" dirty="0">
              <a:solidFill>
                <a:srgbClr val="002060"/>
              </a:solidFill>
            </a:endParaRPr>
          </a:p>
          <a:p>
            <a:r>
              <a:rPr lang="en-ZA" sz="1600" dirty="0">
                <a:solidFill>
                  <a:srgbClr val="002060"/>
                </a:solidFill>
              </a:rPr>
              <a:t>High marketing spend with low ROAS on certain platforms and months  </a:t>
            </a:r>
          </a:p>
        </p:txBody>
      </p:sp>
      <p:cxnSp>
        <p:nvCxnSpPr>
          <p:cNvPr id="29" name="Straight Connector 28">
            <a:extLst>
              <a:ext uri="{FF2B5EF4-FFF2-40B4-BE49-F238E27FC236}">
                <a16:creationId xmlns:a16="http://schemas.microsoft.com/office/drawing/2014/main" id="{D0B51801-22D8-4964-1047-F0AE5C999793}"/>
              </a:ext>
            </a:extLst>
          </p:cNvPr>
          <p:cNvCxnSpPr>
            <a:cxnSpLocks/>
          </p:cNvCxnSpPr>
          <p:nvPr/>
        </p:nvCxnSpPr>
        <p:spPr>
          <a:xfrm>
            <a:off x="628185" y="4544122"/>
            <a:ext cx="0" cy="119318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91466FBD-E05E-3B10-61C3-60BD3A81663E}"/>
              </a:ext>
            </a:extLst>
          </p:cNvPr>
          <p:cNvSpPr/>
          <p:nvPr/>
        </p:nvSpPr>
        <p:spPr>
          <a:xfrm>
            <a:off x="6668302" y="2720898"/>
            <a:ext cx="4880517" cy="1193180"/>
          </a:xfrm>
          <a:prstGeom prst="rect">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002060"/>
                </a:solidFill>
              </a:rPr>
              <a:t>Margin Erosion</a:t>
            </a:r>
          </a:p>
          <a:p>
            <a:endParaRPr lang="en-GB" b="1" dirty="0">
              <a:solidFill>
                <a:srgbClr val="002060"/>
              </a:solidFill>
            </a:endParaRPr>
          </a:p>
          <a:p>
            <a:r>
              <a:rPr lang="en-ZA" sz="1600" dirty="0">
                <a:solidFill>
                  <a:srgbClr val="002060"/>
                </a:solidFill>
              </a:rPr>
              <a:t>Returns, refunds and discounts are silently reducing net margins  </a:t>
            </a:r>
          </a:p>
        </p:txBody>
      </p:sp>
      <p:cxnSp>
        <p:nvCxnSpPr>
          <p:cNvPr id="33" name="Straight Connector 32">
            <a:extLst>
              <a:ext uri="{FF2B5EF4-FFF2-40B4-BE49-F238E27FC236}">
                <a16:creationId xmlns:a16="http://schemas.microsoft.com/office/drawing/2014/main" id="{CC542318-9C4F-57AD-EDE3-8B6FA60A7DF4}"/>
              </a:ext>
            </a:extLst>
          </p:cNvPr>
          <p:cNvCxnSpPr/>
          <p:nvPr/>
        </p:nvCxnSpPr>
        <p:spPr>
          <a:xfrm>
            <a:off x="6668302" y="2720898"/>
            <a:ext cx="0" cy="119318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D08F356-9EAC-E1F4-B77C-24DD730679F8}"/>
              </a:ext>
            </a:extLst>
          </p:cNvPr>
          <p:cNvSpPr/>
          <p:nvPr/>
        </p:nvSpPr>
        <p:spPr>
          <a:xfrm>
            <a:off x="6668301" y="4544122"/>
            <a:ext cx="4880517" cy="1193180"/>
          </a:xfrm>
          <a:prstGeom prst="rect">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002060"/>
                </a:solidFill>
              </a:rPr>
              <a:t>Strategic Goal</a:t>
            </a:r>
          </a:p>
          <a:p>
            <a:endParaRPr lang="en-GB" b="1" dirty="0">
              <a:solidFill>
                <a:srgbClr val="002060"/>
              </a:solidFill>
            </a:endParaRPr>
          </a:p>
          <a:p>
            <a:r>
              <a:rPr lang="en-ZA" sz="1600" dirty="0">
                <a:solidFill>
                  <a:srgbClr val="002060"/>
                </a:solidFill>
              </a:rPr>
              <a:t>Identify actionable improvements to boost profitability and optimize ROI </a:t>
            </a:r>
          </a:p>
        </p:txBody>
      </p:sp>
      <p:cxnSp>
        <p:nvCxnSpPr>
          <p:cNvPr id="36" name="Straight Connector 35">
            <a:extLst>
              <a:ext uri="{FF2B5EF4-FFF2-40B4-BE49-F238E27FC236}">
                <a16:creationId xmlns:a16="http://schemas.microsoft.com/office/drawing/2014/main" id="{477BFFDE-02A6-0FE8-3E8D-31AF83BCA723}"/>
              </a:ext>
            </a:extLst>
          </p:cNvPr>
          <p:cNvCxnSpPr>
            <a:cxnSpLocks/>
          </p:cNvCxnSpPr>
          <p:nvPr/>
        </p:nvCxnSpPr>
        <p:spPr>
          <a:xfrm>
            <a:off x="6668301" y="4544122"/>
            <a:ext cx="0" cy="1193180"/>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48088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14F082-B7C2-2CA1-DFD1-938ECFDE8427}"/>
              </a:ext>
            </a:extLst>
          </p:cNvPr>
          <p:cNvSpPr/>
          <p:nvPr/>
        </p:nvSpPr>
        <p:spPr>
          <a:xfrm>
            <a:off x="0" y="0"/>
            <a:ext cx="12192000" cy="1026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dirty="0">
                <a:solidFill>
                  <a:schemeClr val="bg1"/>
                </a:solidFill>
              </a:rPr>
              <a:t>Objective &amp; Agenda</a:t>
            </a:r>
          </a:p>
        </p:txBody>
      </p:sp>
      <p:sp>
        <p:nvSpPr>
          <p:cNvPr id="3" name="Rectangle 2">
            <a:extLst>
              <a:ext uri="{FF2B5EF4-FFF2-40B4-BE49-F238E27FC236}">
                <a16:creationId xmlns:a16="http://schemas.microsoft.com/office/drawing/2014/main" id="{A40D03A9-81F2-005A-9803-D4A93554F098}"/>
              </a:ext>
            </a:extLst>
          </p:cNvPr>
          <p:cNvSpPr/>
          <p:nvPr/>
        </p:nvSpPr>
        <p:spPr>
          <a:xfrm>
            <a:off x="0" y="1026000"/>
            <a:ext cx="12192000" cy="792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F8E005B7-C10E-EFD4-1E0F-D29C0AEEF48D}"/>
              </a:ext>
            </a:extLst>
          </p:cNvPr>
          <p:cNvSpPr/>
          <p:nvPr/>
        </p:nvSpPr>
        <p:spPr>
          <a:xfrm>
            <a:off x="208156" y="1259122"/>
            <a:ext cx="11775688" cy="792878"/>
          </a:xfrm>
          <a:prstGeom prst="rect">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rgbClr val="002060"/>
                </a:solidFill>
              </a:rPr>
              <a:t>OBJECTIVE: </a:t>
            </a:r>
            <a:r>
              <a:rPr lang="en-GB" sz="1600" dirty="0">
                <a:solidFill>
                  <a:srgbClr val="002060"/>
                </a:solidFill>
              </a:rPr>
              <a:t>Analyse </a:t>
            </a:r>
            <a:r>
              <a:rPr lang="en-GB" sz="1600" dirty="0" err="1">
                <a:solidFill>
                  <a:srgbClr val="002060"/>
                </a:solidFill>
              </a:rPr>
              <a:t>BrightCart’s</a:t>
            </a:r>
            <a:r>
              <a:rPr lang="en-GB" sz="1600" dirty="0">
                <a:solidFill>
                  <a:srgbClr val="002060"/>
                </a:solidFill>
              </a:rPr>
              <a:t> products, channels and marketing performance to deliver data driven CEO recommendations          for maximizing net profitability and ROI</a:t>
            </a:r>
            <a:endParaRPr lang="en-ZA" sz="1600" dirty="0">
              <a:solidFill>
                <a:srgbClr val="002060"/>
              </a:solidFill>
            </a:endParaRPr>
          </a:p>
        </p:txBody>
      </p:sp>
      <p:sp>
        <p:nvSpPr>
          <p:cNvPr id="7" name="Rectangle 6">
            <a:extLst>
              <a:ext uri="{FF2B5EF4-FFF2-40B4-BE49-F238E27FC236}">
                <a16:creationId xmlns:a16="http://schemas.microsoft.com/office/drawing/2014/main" id="{94D77C33-A104-BB3A-0329-46BEEC419593}"/>
              </a:ext>
            </a:extLst>
          </p:cNvPr>
          <p:cNvSpPr/>
          <p:nvPr/>
        </p:nvSpPr>
        <p:spPr>
          <a:xfrm>
            <a:off x="481947" y="4322172"/>
            <a:ext cx="11140069" cy="512956"/>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chemeClr val="tx2">
                    <a:lumMod val="50000"/>
                    <a:lumOff val="50000"/>
                  </a:schemeClr>
                </a:solidFill>
              </a:rPr>
              <a:t>04</a:t>
            </a:r>
            <a:r>
              <a:rPr lang="en-GB" b="1" dirty="0">
                <a:solidFill>
                  <a:schemeClr val="tx2">
                    <a:lumMod val="25000"/>
                    <a:lumOff val="75000"/>
                  </a:schemeClr>
                </a:solidFill>
              </a:rPr>
              <a:t>     </a:t>
            </a:r>
            <a:r>
              <a:rPr lang="en-GB" dirty="0">
                <a:solidFill>
                  <a:srgbClr val="002060"/>
                </a:solidFill>
              </a:rPr>
              <a:t>Marketing spend and ROAS </a:t>
            </a:r>
            <a:endParaRPr lang="en-ZA" dirty="0">
              <a:solidFill>
                <a:srgbClr val="002060"/>
              </a:solidFill>
            </a:endParaRPr>
          </a:p>
        </p:txBody>
      </p:sp>
      <p:sp>
        <p:nvSpPr>
          <p:cNvPr id="4" name="Rectangle 3">
            <a:extLst>
              <a:ext uri="{FF2B5EF4-FFF2-40B4-BE49-F238E27FC236}">
                <a16:creationId xmlns:a16="http://schemas.microsoft.com/office/drawing/2014/main" id="{96EF35E7-D4EC-A8D5-3AB5-5F868199348F}"/>
              </a:ext>
            </a:extLst>
          </p:cNvPr>
          <p:cNvSpPr/>
          <p:nvPr/>
        </p:nvSpPr>
        <p:spPr>
          <a:xfrm>
            <a:off x="481948" y="2922464"/>
            <a:ext cx="11140069" cy="512956"/>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chemeClr val="tx2">
                    <a:lumMod val="50000"/>
                    <a:lumOff val="50000"/>
                  </a:schemeClr>
                </a:solidFill>
              </a:rPr>
              <a:t>02</a:t>
            </a:r>
            <a:r>
              <a:rPr lang="en-GB" b="1" dirty="0">
                <a:solidFill>
                  <a:schemeClr val="tx2">
                    <a:lumMod val="25000"/>
                    <a:lumOff val="75000"/>
                  </a:schemeClr>
                </a:solidFill>
              </a:rPr>
              <a:t>     </a:t>
            </a:r>
            <a:r>
              <a:rPr lang="en-GB" dirty="0">
                <a:solidFill>
                  <a:srgbClr val="002060"/>
                </a:solidFill>
              </a:rPr>
              <a:t>Sales Channel Profitability </a:t>
            </a:r>
            <a:endParaRPr lang="en-ZA" dirty="0">
              <a:solidFill>
                <a:srgbClr val="002060"/>
              </a:solidFill>
            </a:endParaRPr>
          </a:p>
        </p:txBody>
      </p:sp>
      <p:sp>
        <p:nvSpPr>
          <p:cNvPr id="12" name="Rectangle 11">
            <a:extLst>
              <a:ext uri="{FF2B5EF4-FFF2-40B4-BE49-F238E27FC236}">
                <a16:creationId xmlns:a16="http://schemas.microsoft.com/office/drawing/2014/main" id="{9A5CA8C6-BCA3-6B0B-3AE1-9AB2985CC1B6}"/>
              </a:ext>
            </a:extLst>
          </p:cNvPr>
          <p:cNvSpPr/>
          <p:nvPr/>
        </p:nvSpPr>
        <p:spPr>
          <a:xfrm>
            <a:off x="481949" y="2233542"/>
            <a:ext cx="11140069" cy="512956"/>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chemeClr val="tx2">
                    <a:lumMod val="50000"/>
                    <a:lumOff val="50000"/>
                  </a:schemeClr>
                </a:solidFill>
              </a:rPr>
              <a:t>01</a:t>
            </a:r>
            <a:r>
              <a:rPr lang="en-GB" b="1" dirty="0">
                <a:solidFill>
                  <a:schemeClr val="tx2">
                    <a:lumMod val="25000"/>
                    <a:lumOff val="75000"/>
                  </a:schemeClr>
                </a:solidFill>
              </a:rPr>
              <a:t>     </a:t>
            </a:r>
            <a:r>
              <a:rPr lang="en-GB" dirty="0">
                <a:solidFill>
                  <a:srgbClr val="002060"/>
                </a:solidFill>
              </a:rPr>
              <a:t>Product Category Profitability </a:t>
            </a:r>
            <a:endParaRPr lang="en-ZA" dirty="0">
              <a:solidFill>
                <a:srgbClr val="002060"/>
              </a:solidFill>
            </a:endParaRPr>
          </a:p>
        </p:txBody>
      </p:sp>
      <p:sp>
        <p:nvSpPr>
          <p:cNvPr id="14" name="Rectangle 13">
            <a:extLst>
              <a:ext uri="{FF2B5EF4-FFF2-40B4-BE49-F238E27FC236}">
                <a16:creationId xmlns:a16="http://schemas.microsoft.com/office/drawing/2014/main" id="{DA0CE631-56A4-ECA5-E854-C0D5221F14B1}"/>
              </a:ext>
            </a:extLst>
          </p:cNvPr>
          <p:cNvSpPr/>
          <p:nvPr/>
        </p:nvSpPr>
        <p:spPr>
          <a:xfrm>
            <a:off x="481946" y="4994806"/>
            <a:ext cx="11140069" cy="512956"/>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chemeClr val="tx2">
                    <a:lumMod val="50000"/>
                    <a:lumOff val="50000"/>
                  </a:schemeClr>
                </a:solidFill>
              </a:rPr>
              <a:t>05</a:t>
            </a:r>
            <a:r>
              <a:rPr lang="en-GB" b="1" dirty="0">
                <a:solidFill>
                  <a:schemeClr val="tx2">
                    <a:lumMod val="25000"/>
                    <a:lumOff val="75000"/>
                  </a:schemeClr>
                </a:solidFill>
              </a:rPr>
              <a:t>     </a:t>
            </a:r>
            <a:r>
              <a:rPr lang="en-GB" dirty="0">
                <a:solidFill>
                  <a:srgbClr val="002060"/>
                </a:solidFill>
              </a:rPr>
              <a:t>CEO</a:t>
            </a:r>
            <a:r>
              <a:rPr lang="en-GB" b="1" dirty="0">
                <a:solidFill>
                  <a:srgbClr val="002060"/>
                </a:solidFill>
              </a:rPr>
              <a:t> </a:t>
            </a:r>
            <a:r>
              <a:rPr lang="en-GB" dirty="0">
                <a:solidFill>
                  <a:srgbClr val="002060"/>
                </a:solidFill>
              </a:rPr>
              <a:t>Recommendations: 20% Budget cut </a:t>
            </a:r>
            <a:endParaRPr lang="en-ZA" dirty="0">
              <a:solidFill>
                <a:srgbClr val="002060"/>
              </a:solidFill>
            </a:endParaRPr>
          </a:p>
        </p:txBody>
      </p:sp>
      <p:sp>
        <p:nvSpPr>
          <p:cNvPr id="16" name="Rectangle 15">
            <a:extLst>
              <a:ext uri="{FF2B5EF4-FFF2-40B4-BE49-F238E27FC236}">
                <a16:creationId xmlns:a16="http://schemas.microsoft.com/office/drawing/2014/main" id="{0DC2054E-DD0E-C7D0-3876-A8A56E46A5EC}"/>
              </a:ext>
            </a:extLst>
          </p:cNvPr>
          <p:cNvSpPr/>
          <p:nvPr/>
        </p:nvSpPr>
        <p:spPr>
          <a:xfrm>
            <a:off x="481945" y="5667440"/>
            <a:ext cx="11140069" cy="512956"/>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chemeClr val="tx2">
                    <a:lumMod val="50000"/>
                    <a:lumOff val="50000"/>
                  </a:schemeClr>
                </a:solidFill>
              </a:rPr>
              <a:t>06</a:t>
            </a:r>
            <a:r>
              <a:rPr lang="en-GB" b="1" dirty="0">
                <a:solidFill>
                  <a:schemeClr val="tx2">
                    <a:lumMod val="25000"/>
                    <a:lumOff val="75000"/>
                  </a:schemeClr>
                </a:solidFill>
              </a:rPr>
              <a:t>     </a:t>
            </a:r>
            <a:r>
              <a:rPr lang="en-GB" dirty="0">
                <a:solidFill>
                  <a:srgbClr val="002060"/>
                </a:solidFill>
              </a:rPr>
              <a:t>Summary and Key Takeaways </a:t>
            </a:r>
            <a:endParaRPr lang="en-ZA" dirty="0">
              <a:solidFill>
                <a:srgbClr val="002060"/>
              </a:solidFill>
            </a:endParaRPr>
          </a:p>
        </p:txBody>
      </p:sp>
      <p:sp>
        <p:nvSpPr>
          <p:cNvPr id="20" name="Rectangle 19">
            <a:extLst>
              <a:ext uri="{FF2B5EF4-FFF2-40B4-BE49-F238E27FC236}">
                <a16:creationId xmlns:a16="http://schemas.microsoft.com/office/drawing/2014/main" id="{0B1D39D9-7CFA-6D43-211F-65122B956596}"/>
              </a:ext>
            </a:extLst>
          </p:cNvPr>
          <p:cNvSpPr/>
          <p:nvPr/>
        </p:nvSpPr>
        <p:spPr>
          <a:xfrm>
            <a:off x="481944" y="3633250"/>
            <a:ext cx="11140069" cy="512956"/>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chemeClr val="tx2">
                    <a:lumMod val="50000"/>
                    <a:lumOff val="50000"/>
                  </a:schemeClr>
                </a:solidFill>
              </a:rPr>
              <a:t>03</a:t>
            </a:r>
            <a:r>
              <a:rPr lang="en-GB" b="1" dirty="0">
                <a:solidFill>
                  <a:schemeClr val="tx2">
                    <a:lumMod val="25000"/>
                    <a:lumOff val="75000"/>
                  </a:schemeClr>
                </a:solidFill>
              </a:rPr>
              <a:t>     </a:t>
            </a:r>
            <a:r>
              <a:rPr lang="en-GB" dirty="0">
                <a:solidFill>
                  <a:srgbClr val="002060"/>
                </a:solidFill>
              </a:rPr>
              <a:t>Return Rates &amp; Revenue lost </a:t>
            </a:r>
            <a:endParaRPr lang="en-ZA" dirty="0">
              <a:solidFill>
                <a:srgbClr val="002060"/>
              </a:solidFill>
            </a:endParaRPr>
          </a:p>
        </p:txBody>
      </p:sp>
    </p:spTree>
    <p:extLst>
      <p:ext uri="{BB962C8B-B14F-4D97-AF65-F5344CB8AC3E}">
        <p14:creationId xmlns:p14="http://schemas.microsoft.com/office/powerpoint/2010/main" val="1216930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E1C73C-DD8A-305F-B392-A493C4BD5B65}"/>
              </a:ext>
            </a:extLst>
          </p:cNvPr>
          <p:cNvSpPr/>
          <p:nvPr/>
        </p:nvSpPr>
        <p:spPr>
          <a:xfrm>
            <a:off x="0" y="-1"/>
            <a:ext cx="12192000" cy="1026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dirty="0"/>
              <a:t>Product Category Profitability</a:t>
            </a:r>
          </a:p>
        </p:txBody>
      </p:sp>
      <p:sp>
        <p:nvSpPr>
          <p:cNvPr id="5" name="Rectangle 4">
            <a:extLst>
              <a:ext uri="{FF2B5EF4-FFF2-40B4-BE49-F238E27FC236}">
                <a16:creationId xmlns:a16="http://schemas.microsoft.com/office/drawing/2014/main" id="{C5E1A326-067C-F123-3659-CF1745561232}"/>
              </a:ext>
            </a:extLst>
          </p:cNvPr>
          <p:cNvSpPr/>
          <p:nvPr/>
        </p:nvSpPr>
        <p:spPr>
          <a:xfrm>
            <a:off x="0" y="1025999"/>
            <a:ext cx="12192000" cy="792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7" name="Chart 6">
            <a:extLst>
              <a:ext uri="{FF2B5EF4-FFF2-40B4-BE49-F238E27FC236}">
                <a16:creationId xmlns:a16="http://schemas.microsoft.com/office/drawing/2014/main" id="{AC0AAF50-AFC8-38FA-C9C7-BD5F8FD9E332}"/>
              </a:ext>
            </a:extLst>
          </p:cNvPr>
          <p:cNvGraphicFramePr>
            <a:graphicFrameLocks/>
          </p:cNvGraphicFramePr>
          <p:nvPr>
            <p:extLst>
              <p:ext uri="{D42A27DB-BD31-4B8C-83A1-F6EECF244321}">
                <p14:modId xmlns:p14="http://schemas.microsoft.com/office/powerpoint/2010/main" val="160439894"/>
              </p:ext>
            </p:extLst>
          </p:nvPr>
        </p:nvGraphicFramePr>
        <p:xfrm>
          <a:off x="386388" y="1224197"/>
          <a:ext cx="6326646" cy="2858289"/>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9">
            <a:extLst>
              <a:ext uri="{FF2B5EF4-FFF2-40B4-BE49-F238E27FC236}">
                <a16:creationId xmlns:a16="http://schemas.microsoft.com/office/drawing/2014/main" id="{3035F513-21D8-4047-6AC7-F3D7E8534422}"/>
              </a:ext>
            </a:extLst>
          </p:cNvPr>
          <p:cNvSpPr/>
          <p:nvPr/>
        </p:nvSpPr>
        <p:spPr>
          <a:xfrm>
            <a:off x="7731133" y="1627897"/>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rgbClr val="FF0000"/>
                </a:solidFill>
              </a:rPr>
              <a:t>Risk Categories</a:t>
            </a:r>
          </a:p>
          <a:p>
            <a:endParaRPr lang="en-ZA" sz="1600" dirty="0">
              <a:solidFill>
                <a:srgbClr val="FF0000"/>
              </a:solidFill>
            </a:endParaRPr>
          </a:p>
          <a:p>
            <a:r>
              <a:rPr lang="en-ZA" sz="1200" dirty="0">
                <a:solidFill>
                  <a:schemeClr val="tx1"/>
                </a:solidFill>
              </a:rPr>
              <a:t>Books and clothing suffer high return rates, while Beauty is the lowest in return rates and discount it’s profit margin is unstable due to under pricing of product </a:t>
            </a:r>
          </a:p>
        </p:txBody>
      </p:sp>
      <p:sp>
        <p:nvSpPr>
          <p:cNvPr id="11" name="Rectangle 10">
            <a:extLst>
              <a:ext uri="{FF2B5EF4-FFF2-40B4-BE49-F238E27FC236}">
                <a16:creationId xmlns:a16="http://schemas.microsoft.com/office/drawing/2014/main" id="{4D14713E-E7E7-0160-D09C-582420277DBE}"/>
              </a:ext>
            </a:extLst>
          </p:cNvPr>
          <p:cNvSpPr/>
          <p:nvPr/>
        </p:nvSpPr>
        <p:spPr>
          <a:xfrm>
            <a:off x="7731133" y="3429000"/>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chemeClr val="accent6">
                    <a:lumMod val="75000"/>
                  </a:schemeClr>
                </a:solidFill>
              </a:rPr>
              <a:t>Stable Margins</a:t>
            </a:r>
          </a:p>
          <a:p>
            <a:endParaRPr lang="en-ZA" sz="1600" b="1" dirty="0">
              <a:solidFill>
                <a:schemeClr val="accent6">
                  <a:lumMod val="75000"/>
                </a:schemeClr>
              </a:solidFill>
            </a:endParaRPr>
          </a:p>
          <a:p>
            <a:r>
              <a:rPr lang="en-ZA" sz="1200" dirty="0">
                <a:solidFill>
                  <a:schemeClr val="tx1"/>
                </a:solidFill>
              </a:rPr>
              <a:t>Sports, Food &amp; Bev, Home &amp; Kitchen, toys have stable margins.  Even though Electronics has the highest return rates and discount  the profit margin is still stable.</a:t>
            </a:r>
          </a:p>
        </p:txBody>
      </p:sp>
      <p:sp>
        <p:nvSpPr>
          <p:cNvPr id="12" name="Rectangle 11">
            <a:extLst>
              <a:ext uri="{FF2B5EF4-FFF2-40B4-BE49-F238E27FC236}">
                <a16:creationId xmlns:a16="http://schemas.microsoft.com/office/drawing/2014/main" id="{DDA46DD0-5D7D-FB3C-F1FE-5A9F56794BA4}"/>
              </a:ext>
            </a:extLst>
          </p:cNvPr>
          <p:cNvSpPr/>
          <p:nvPr/>
        </p:nvSpPr>
        <p:spPr>
          <a:xfrm>
            <a:off x="7731133" y="5164898"/>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rgbClr val="002060"/>
                </a:solidFill>
              </a:rPr>
              <a:t>Actions</a:t>
            </a:r>
          </a:p>
          <a:p>
            <a:endParaRPr lang="en-ZA" sz="1600" b="1" dirty="0">
              <a:solidFill>
                <a:srgbClr val="002060"/>
              </a:solidFill>
            </a:endParaRPr>
          </a:p>
          <a:p>
            <a:r>
              <a:rPr lang="en-ZA" sz="1200" dirty="0">
                <a:solidFill>
                  <a:schemeClr val="tx1"/>
                </a:solidFill>
              </a:rPr>
              <a:t>Improve product descriptions and analyse pricing especially in Beauty products. </a:t>
            </a:r>
          </a:p>
        </p:txBody>
      </p:sp>
      <p:cxnSp>
        <p:nvCxnSpPr>
          <p:cNvPr id="15" name="Straight Connector 14">
            <a:extLst>
              <a:ext uri="{FF2B5EF4-FFF2-40B4-BE49-F238E27FC236}">
                <a16:creationId xmlns:a16="http://schemas.microsoft.com/office/drawing/2014/main" id="{0A0B0808-769D-7BCE-ECD3-BC66A45E122B}"/>
              </a:ext>
            </a:extLst>
          </p:cNvPr>
          <p:cNvCxnSpPr>
            <a:cxnSpLocks/>
          </p:cNvCxnSpPr>
          <p:nvPr/>
        </p:nvCxnSpPr>
        <p:spPr>
          <a:xfrm>
            <a:off x="7731133" y="1627897"/>
            <a:ext cx="0" cy="113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19" name="Chart 18">
            <a:extLst>
              <a:ext uri="{FF2B5EF4-FFF2-40B4-BE49-F238E27FC236}">
                <a16:creationId xmlns:a16="http://schemas.microsoft.com/office/drawing/2014/main" id="{3EFE7E25-2C4E-44F2-7DD6-0658801FEADE}"/>
              </a:ext>
            </a:extLst>
          </p:cNvPr>
          <p:cNvGraphicFramePr>
            <a:graphicFrameLocks/>
          </p:cNvGraphicFramePr>
          <p:nvPr>
            <p:extLst>
              <p:ext uri="{D42A27DB-BD31-4B8C-83A1-F6EECF244321}">
                <p14:modId xmlns:p14="http://schemas.microsoft.com/office/powerpoint/2010/main" val="752821048"/>
              </p:ext>
            </p:extLst>
          </p:nvPr>
        </p:nvGraphicFramePr>
        <p:xfrm>
          <a:off x="386387" y="3999710"/>
          <a:ext cx="6326645" cy="2858289"/>
        </p:xfrm>
        <a:graphic>
          <a:graphicData uri="http://schemas.openxmlformats.org/drawingml/2006/chart">
            <c:chart xmlns:c="http://schemas.openxmlformats.org/drawingml/2006/chart" xmlns:r="http://schemas.openxmlformats.org/officeDocument/2006/relationships" r:id="rId3"/>
          </a:graphicData>
        </a:graphic>
      </p:graphicFrame>
      <p:cxnSp>
        <p:nvCxnSpPr>
          <p:cNvPr id="21" name="Straight Connector 20">
            <a:extLst>
              <a:ext uri="{FF2B5EF4-FFF2-40B4-BE49-F238E27FC236}">
                <a16:creationId xmlns:a16="http://schemas.microsoft.com/office/drawing/2014/main" id="{9953A9FE-BEBC-0D7F-A83B-C42122A2695F}"/>
              </a:ext>
            </a:extLst>
          </p:cNvPr>
          <p:cNvCxnSpPr>
            <a:cxnSpLocks/>
          </p:cNvCxnSpPr>
          <p:nvPr/>
        </p:nvCxnSpPr>
        <p:spPr>
          <a:xfrm>
            <a:off x="7731133" y="3429000"/>
            <a:ext cx="0" cy="113400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EFFE899-E69B-084C-B67D-DE9CFB24F629}"/>
              </a:ext>
            </a:extLst>
          </p:cNvPr>
          <p:cNvCxnSpPr>
            <a:cxnSpLocks/>
          </p:cNvCxnSpPr>
          <p:nvPr/>
        </p:nvCxnSpPr>
        <p:spPr>
          <a:xfrm>
            <a:off x="7731133" y="5164898"/>
            <a:ext cx="0" cy="1134000"/>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9285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CFAB0-7F7A-49BD-0DD6-A365E797D6AA}"/>
              </a:ext>
            </a:extLst>
          </p:cNvPr>
          <p:cNvSpPr/>
          <p:nvPr/>
        </p:nvSpPr>
        <p:spPr>
          <a:xfrm>
            <a:off x="0" y="0"/>
            <a:ext cx="12192000" cy="1026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dirty="0"/>
              <a:t>Sales Channel Profitability</a:t>
            </a:r>
          </a:p>
        </p:txBody>
      </p:sp>
      <p:sp>
        <p:nvSpPr>
          <p:cNvPr id="3" name="Rectangle 2">
            <a:extLst>
              <a:ext uri="{FF2B5EF4-FFF2-40B4-BE49-F238E27FC236}">
                <a16:creationId xmlns:a16="http://schemas.microsoft.com/office/drawing/2014/main" id="{0672AD2E-B814-557A-43C5-D24233FBAE2C}"/>
              </a:ext>
            </a:extLst>
          </p:cNvPr>
          <p:cNvSpPr/>
          <p:nvPr/>
        </p:nvSpPr>
        <p:spPr>
          <a:xfrm>
            <a:off x="0" y="1026000"/>
            <a:ext cx="12192000" cy="792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4" name="Chart 3">
            <a:extLst>
              <a:ext uri="{FF2B5EF4-FFF2-40B4-BE49-F238E27FC236}">
                <a16:creationId xmlns:a16="http://schemas.microsoft.com/office/drawing/2014/main" id="{B51DB3FF-AACC-8865-F9C1-B64B0E950E61}"/>
              </a:ext>
            </a:extLst>
          </p:cNvPr>
          <p:cNvGraphicFramePr>
            <a:graphicFrameLocks/>
          </p:cNvGraphicFramePr>
          <p:nvPr>
            <p:extLst>
              <p:ext uri="{D42A27DB-BD31-4B8C-83A1-F6EECF244321}">
                <p14:modId xmlns:p14="http://schemas.microsoft.com/office/powerpoint/2010/main" val="1157847188"/>
              </p:ext>
            </p:extLst>
          </p:nvPr>
        </p:nvGraphicFramePr>
        <p:xfrm>
          <a:off x="475506" y="1243360"/>
          <a:ext cx="6103713" cy="268630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06CC4E84-30B6-0FD9-E666-7663449C6975}"/>
              </a:ext>
            </a:extLst>
          </p:cNvPr>
          <p:cNvGraphicFramePr>
            <a:graphicFrameLocks/>
          </p:cNvGraphicFramePr>
          <p:nvPr>
            <p:extLst>
              <p:ext uri="{D42A27DB-BD31-4B8C-83A1-F6EECF244321}">
                <p14:modId xmlns:p14="http://schemas.microsoft.com/office/powerpoint/2010/main" val="2645876463"/>
              </p:ext>
            </p:extLst>
          </p:nvPr>
        </p:nvGraphicFramePr>
        <p:xfrm>
          <a:off x="475506" y="3929662"/>
          <a:ext cx="6103713" cy="2928337"/>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3BE3D17C-2E7C-1E54-D895-C2BDC13282CE}"/>
              </a:ext>
            </a:extLst>
          </p:cNvPr>
          <p:cNvSpPr/>
          <p:nvPr/>
        </p:nvSpPr>
        <p:spPr>
          <a:xfrm>
            <a:off x="7731133" y="1627897"/>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rgbClr val="FF0000"/>
                </a:solidFill>
              </a:rPr>
              <a:t>Risk Channels</a:t>
            </a:r>
          </a:p>
          <a:p>
            <a:endParaRPr lang="en-ZA" sz="1600" dirty="0">
              <a:solidFill>
                <a:srgbClr val="FF0000"/>
              </a:solidFill>
            </a:endParaRPr>
          </a:p>
          <a:p>
            <a:r>
              <a:rPr lang="en-ZA" sz="1200" dirty="0">
                <a:solidFill>
                  <a:schemeClr val="tx1"/>
                </a:solidFill>
              </a:rPr>
              <a:t>Marketplace shows a stable order volumes but thin profit margins. Low efficiency and high return rates in Social Commerce.</a:t>
            </a:r>
          </a:p>
        </p:txBody>
      </p:sp>
      <p:cxnSp>
        <p:nvCxnSpPr>
          <p:cNvPr id="9" name="Straight Connector 8">
            <a:extLst>
              <a:ext uri="{FF2B5EF4-FFF2-40B4-BE49-F238E27FC236}">
                <a16:creationId xmlns:a16="http://schemas.microsoft.com/office/drawing/2014/main" id="{F066ED4B-AEBE-3B5C-BFF5-A313E660B1F8}"/>
              </a:ext>
            </a:extLst>
          </p:cNvPr>
          <p:cNvCxnSpPr>
            <a:cxnSpLocks/>
          </p:cNvCxnSpPr>
          <p:nvPr/>
        </p:nvCxnSpPr>
        <p:spPr>
          <a:xfrm>
            <a:off x="7731133" y="1627897"/>
            <a:ext cx="0" cy="113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EB78C67F-91D5-B0F8-7779-1A78F4D13C44}"/>
              </a:ext>
            </a:extLst>
          </p:cNvPr>
          <p:cNvSpPr/>
          <p:nvPr/>
        </p:nvSpPr>
        <p:spPr>
          <a:xfrm>
            <a:off x="7731133" y="3284594"/>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chemeClr val="accent6">
                    <a:lumMod val="75000"/>
                  </a:schemeClr>
                </a:solidFill>
              </a:rPr>
              <a:t>Stable Channels</a:t>
            </a:r>
          </a:p>
          <a:p>
            <a:endParaRPr lang="en-ZA" sz="1600" dirty="0">
              <a:solidFill>
                <a:srgbClr val="FF0000"/>
              </a:solidFill>
            </a:endParaRPr>
          </a:p>
          <a:p>
            <a:r>
              <a:rPr lang="en-ZA" sz="1200" dirty="0">
                <a:solidFill>
                  <a:schemeClr val="tx1"/>
                </a:solidFill>
              </a:rPr>
              <a:t>Mobile App and Website shows rapid growth in order volumes and profit per order.</a:t>
            </a:r>
          </a:p>
        </p:txBody>
      </p:sp>
      <p:cxnSp>
        <p:nvCxnSpPr>
          <p:cNvPr id="14" name="Straight Connector 13">
            <a:extLst>
              <a:ext uri="{FF2B5EF4-FFF2-40B4-BE49-F238E27FC236}">
                <a16:creationId xmlns:a16="http://schemas.microsoft.com/office/drawing/2014/main" id="{CD49FC75-4287-55D7-13DB-12F9ECD7709E}"/>
              </a:ext>
            </a:extLst>
          </p:cNvPr>
          <p:cNvCxnSpPr>
            <a:cxnSpLocks/>
          </p:cNvCxnSpPr>
          <p:nvPr/>
        </p:nvCxnSpPr>
        <p:spPr>
          <a:xfrm>
            <a:off x="7731133" y="3300761"/>
            <a:ext cx="0" cy="111783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A1EC1E07-8981-5445-84D0-CC67C791580A}"/>
              </a:ext>
            </a:extLst>
          </p:cNvPr>
          <p:cNvSpPr/>
          <p:nvPr/>
        </p:nvSpPr>
        <p:spPr>
          <a:xfrm>
            <a:off x="7731133" y="4941291"/>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rgbClr val="002060"/>
                </a:solidFill>
              </a:rPr>
              <a:t>Actions</a:t>
            </a:r>
          </a:p>
          <a:p>
            <a:endParaRPr lang="en-ZA" sz="1600" dirty="0">
              <a:solidFill>
                <a:srgbClr val="FF0000"/>
              </a:solidFill>
            </a:endParaRPr>
          </a:p>
          <a:p>
            <a:r>
              <a:rPr lang="en-ZA" sz="1200" dirty="0">
                <a:solidFill>
                  <a:schemeClr val="tx1"/>
                </a:solidFill>
              </a:rPr>
              <a:t>Prioritize investment in Mobile App and Website. Renegotiate fees in Marketplace and restructure strategy or minimize investment in Social Commerce.</a:t>
            </a:r>
          </a:p>
        </p:txBody>
      </p:sp>
      <p:cxnSp>
        <p:nvCxnSpPr>
          <p:cNvPr id="18" name="Straight Connector 17">
            <a:extLst>
              <a:ext uri="{FF2B5EF4-FFF2-40B4-BE49-F238E27FC236}">
                <a16:creationId xmlns:a16="http://schemas.microsoft.com/office/drawing/2014/main" id="{799EB2CD-A02A-114C-4C0E-39B3C76A152C}"/>
              </a:ext>
            </a:extLst>
          </p:cNvPr>
          <p:cNvCxnSpPr>
            <a:cxnSpLocks/>
          </p:cNvCxnSpPr>
          <p:nvPr/>
        </p:nvCxnSpPr>
        <p:spPr>
          <a:xfrm>
            <a:off x="7731133" y="4941291"/>
            <a:ext cx="0" cy="1134000"/>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446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0239B7-D9F0-5980-DA6E-424CB192E342}"/>
              </a:ext>
            </a:extLst>
          </p:cNvPr>
          <p:cNvSpPr/>
          <p:nvPr/>
        </p:nvSpPr>
        <p:spPr>
          <a:xfrm>
            <a:off x="0" y="0"/>
            <a:ext cx="12192000" cy="1026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dirty="0"/>
              <a:t>Return Rates &amp; Revenue Loss</a:t>
            </a:r>
          </a:p>
        </p:txBody>
      </p:sp>
      <p:sp>
        <p:nvSpPr>
          <p:cNvPr id="3" name="Rectangle 2">
            <a:extLst>
              <a:ext uri="{FF2B5EF4-FFF2-40B4-BE49-F238E27FC236}">
                <a16:creationId xmlns:a16="http://schemas.microsoft.com/office/drawing/2014/main" id="{309C0CDF-2855-C58D-94A0-0EC17C4A8FA0}"/>
              </a:ext>
            </a:extLst>
          </p:cNvPr>
          <p:cNvSpPr/>
          <p:nvPr/>
        </p:nvSpPr>
        <p:spPr>
          <a:xfrm>
            <a:off x="0" y="1026000"/>
            <a:ext cx="12192000" cy="792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16" name="Chart 15">
            <a:extLst>
              <a:ext uri="{FF2B5EF4-FFF2-40B4-BE49-F238E27FC236}">
                <a16:creationId xmlns:a16="http://schemas.microsoft.com/office/drawing/2014/main" id="{F89FFBE2-1F85-4E09-5CB1-581A72A39D7D}"/>
              </a:ext>
            </a:extLst>
          </p:cNvPr>
          <p:cNvGraphicFramePr>
            <a:graphicFrameLocks/>
          </p:cNvGraphicFramePr>
          <p:nvPr>
            <p:extLst>
              <p:ext uri="{D42A27DB-BD31-4B8C-83A1-F6EECF244321}">
                <p14:modId xmlns:p14="http://schemas.microsoft.com/office/powerpoint/2010/main" val="533438492"/>
              </p:ext>
            </p:extLst>
          </p:nvPr>
        </p:nvGraphicFramePr>
        <p:xfrm>
          <a:off x="250509" y="4114800"/>
          <a:ext cx="6763608"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Table 16">
            <a:extLst>
              <a:ext uri="{FF2B5EF4-FFF2-40B4-BE49-F238E27FC236}">
                <a16:creationId xmlns:a16="http://schemas.microsoft.com/office/drawing/2014/main" id="{B70F2C61-16EC-8AC9-AF46-47AC12E086E6}"/>
              </a:ext>
            </a:extLst>
          </p:cNvPr>
          <p:cNvGraphicFramePr>
            <a:graphicFrameLocks noGrp="1"/>
          </p:cNvGraphicFramePr>
          <p:nvPr>
            <p:extLst>
              <p:ext uri="{D42A27DB-BD31-4B8C-83A1-F6EECF244321}">
                <p14:modId xmlns:p14="http://schemas.microsoft.com/office/powerpoint/2010/main" val="2672884378"/>
              </p:ext>
            </p:extLst>
          </p:nvPr>
        </p:nvGraphicFramePr>
        <p:xfrm>
          <a:off x="250509" y="1438506"/>
          <a:ext cx="6763608" cy="2597094"/>
        </p:xfrm>
        <a:graphic>
          <a:graphicData uri="http://schemas.openxmlformats.org/drawingml/2006/table">
            <a:tbl>
              <a:tblPr/>
              <a:tblGrid>
                <a:gridCol w="1305845">
                  <a:extLst>
                    <a:ext uri="{9D8B030D-6E8A-4147-A177-3AD203B41FA5}">
                      <a16:colId xmlns:a16="http://schemas.microsoft.com/office/drawing/2014/main" val="1404782622"/>
                    </a:ext>
                  </a:extLst>
                </a:gridCol>
                <a:gridCol w="1305845">
                  <a:extLst>
                    <a:ext uri="{9D8B030D-6E8A-4147-A177-3AD203B41FA5}">
                      <a16:colId xmlns:a16="http://schemas.microsoft.com/office/drawing/2014/main" val="2460801392"/>
                    </a:ext>
                  </a:extLst>
                </a:gridCol>
                <a:gridCol w="1590452">
                  <a:extLst>
                    <a:ext uri="{9D8B030D-6E8A-4147-A177-3AD203B41FA5}">
                      <a16:colId xmlns:a16="http://schemas.microsoft.com/office/drawing/2014/main" val="2185630527"/>
                    </a:ext>
                  </a:extLst>
                </a:gridCol>
                <a:gridCol w="1439778">
                  <a:extLst>
                    <a:ext uri="{9D8B030D-6E8A-4147-A177-3AD203B41FA5}">
                      <a16:colId xmlns:a16="http://schemas.microsoft.com/office/drawing/2014/main" val="2555636508"/>
                    </a:ext>
                  </a:extLst>
                </a:gridCol>
                <a:gridCol w="1121688">
                  <a:extLst>
                    <a:ext uri="{9D8B030D-6E8A-4147-A177-3AD203B41FA5}">
                      <a16:colId xmlns:a16="http://schemas.microsoft.com/office/drawing/2014/main" val="1951704071"/>
                    </a:ext>
                  </a:extLst>
                </a:gridCol>
              </a:tblGrid>
              <a:tr h="289908">
                <a:tc>
                  <a:txBody>
                    <a:bodyPr/>
                    <a:lstStyle/>
                    <a:p>
                      <a:pPr algn="l" fontAlgn="b">
                        <a:buNone/>
                      </a:pPr>
                      <a:r>
                        <a:rPr lang="en-ZA" sz="1100" b="1" i="0" u="none" strike="noStrike">
                          <a:solidFill>
                            <a:srgbClr val="FFFFFF"/>
                          </a:solidFill>
                          <a:effectLst/>
                          <a:latin typeface="Aptos Narrow" panose="020B0004020202020204" pitchFamily="34" charset="0"/>
                        </a:rPr>
                        <a:t>Category</a:t>
                      </a:r>
                    </a:p>
                  </a:txBody>
                  <a:tcPr marL="7620" marR="7620" marT="762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a:noFill/>
                    </a:lnB>
                    <a:solidFill>
                      <a:srgbClr val="156082"/>
                    </a:solidFill>
                  </a:tcPr>
                </a:tc>
                <a:tc>
                  <a:txBody>
                    <a:bodyPr/>
                    <a:lstStyle/>
                    <a:p>
                      <a:pPr algn="l" fontAlgn="b">
                        <a:buNone/>
                      </a:pPr>
                      <a:r>
                        <a:rPr lang="en-ZA" sz="1100" b="1" i="0" u="none" strike="noStrike">
                          <a:solidFill>
                            <a:srgbClr val="FFFFFF"/>
                          </a:solidFill>
                          <a:effectLst/>
                          <a:latin typeface="Aptos Narrow" panose="020B0004020202020204" pitchFamily="34" charset="0"/>
                        </a:rPr>
                        <a:t>Marketplace</a:t>
                      </a:r>
                    </a:p>
                  </a:txBody>
                  <a:tcPr marL="7620" marR="7620" marT="7620" marB="0" anchor="b">
                    <a:lnL>
                      <a:noFill/>
                    </a:lnL>
                    <a:lnR>
                      <a:noFill/>
                    </a:lnR>
                    <a:lnT w="6350" cap="flat" cmpd="sng" algn="ctr">
                      <a:solidFill>
                        <a:srgbClr val="156082"/>
                      </a:solidFill>
                      <a:prstDash val="solid"/>
                      <a:round/>
                      <a:headEnd type="none" w="med" len="med"/>
                      <a:tailEnd type="none" w="med" len="med"/>
                    </a:lnT>
                    <a:lnB>
                      <a:noFill/>
                    </a:lnB>
                    <a:solidFill>
                      <a:srgbClr val="156082"/>
                    </a:solidFill>
                  </a:tcPr>
                </a:tc>
                <a:tc>
                  <a:txBody>
                    <a:bodyPr/>
                    <a:lstStyle/>
                    <a:p>
                      <a:pPr algn="l" fontAlgn="b">
                        <a:buNone/>
                      </a:pPr>
                      <a:r>
                        <a:rPr lang="en-ZA" sz="1100" b="1" i="0" u="none" strike="noStrike" dirty="0">
                          <a:solidFill>
                            <a:srgbClr val="FFFFFF"/>
                          </a:solidFill>
                          <a:effectLst/>
                          <a:latin typeface="Aptos Narrow" panose="020B0004020202020204" pitchFamily="34" charset="0"/>
                        </a:rPr>
                        <a:t>Mobile App</a:t>
                      </a:r>
                    </a:p>
                  </a:txBody>
                  <a:tcPr marL="7620" marR="7620" marT="7620" marB="0" anchor="b">
                    <a:lnL>
                      <a:noFill/>
                    </a:lnL>
                    <a:lnR>
                      <a:noFill/>
                    </a:lnR>
                    <a:lnT w="6350" cap="flat" cmpd="sng" algn="ctr">
                      <a:solidFill>
                        <a:srgbClr val="156082"/>
                      </a:solidFill>
                      <a:prstDash val="solid"/>
                      <a:round/>
                      <a:headEnd type="none" w="med" len="med"/>
                      <a:tailEnd type="none" w="med" len="med"/>
                    </a:lnT>
                    <a:lnB>
                      <a:noFill/>
                    </a:lnB>
                    <a:solidFill>
                      <a:srgbClr val="156082"/>
                    </a:solidFill>
                  </a:tcPr>
                </a:tc>
                <a:tc>
                  <a:txBody>
                    <a:bodyPr/>
                    <a:lstStyle/>
                    <a:p>
                      <a:pPr algn="l" fontAlgn="b">
                        <a:buNone/>
                      </a:pPr>
                      <a:r>
                        <a:rPr lang="en-ZA" sz="1100" b="1" i="0" u="none" strike="noStrike">
                          <a:solidFill>
                            <a:srgbClr val="FFFFFF"/>
                          </a:solidFill>
                          <a:effectLst/>
                          <a:latin typeface="Aptos Narrow" panose="020B0004020202020204" pitchFamily="34" charset="0"/>
                        </a:rPr>
                        <a:t>Social Commerce</a:t>
                      </a:r>
                    </a:p>
                  </a:txBody>
                  <a:tcPr marL="7620" marR="7620" marT="7620" marB="0" anchor="b">
                    <a:lnL>
                      <a:noFill/>
                    </a:lnL>
                    <a:lnR>
                      <a:noFill/>
                    </a:lnR>
                    <a:lnT w="6350" cap="flat" cmpd="sng" algn="ctr">
                      <a:solidFill>
                        <a:srgbClr val="156082"/>
                      </a:solidFill>
                      <a:prstDash val="solid"/>
                      <a:round/>
                      <a:headEnd type="none" w="med" len="med"/>
                      <a:tailEnd type="none" w="med" len="med"/>
                    </a:lnT>
                    <a:lnB>
                      <a:noFill/>
                    </a:lnB>
                    <a:solidFill>
                      <a:srgbClr val="156082"/>
                    </a:solidFill>
                  </a:tcPr>
                </a:tc>
                <a:tc>
                  <a:txBody>
                    <a:bodyPr/>
                    <a:lstStyle/>
                    <a:p>
                      <a:pPr algn="l" fontAlgn="b">
                        <a:buNone/>
                      </a:pPr>
                      <a:r>
                        <a:rPr lang="en-ZA" sz="1100" b="1" i="0" u="none" strike="noStrike">
                          <a:solidFill>
                            <a:srgbClr val="FFFFFF"/>
                          </a:solidFill>
                          <a:effectLst/>
                          <a:latin typeface="Aptos Narrow" panose="020B0004020202020204" pitchFamily="34" charset="0"/>
                        </a:rPr>
                        <a:t>Website</a:t>
                      </a:r>
                    </a:p>
                  </a:txBody>
                  <a:tcPr marL="7620" marR="7620" marT="762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a:noFill/>
                    </a:lnB>
                    <a:solidFill>
                      <a:srgbClr val="156082"/>
                    </a:solidFill>
                  </a:tcPr>
                </a:tc>
                <a:extLst>
                  <a:ext uri="{0D108BD9-81ED-4DB2-BD59-A6C34878D82A}">
                    <a16:rowId xmlns:a16="http://schemas.microsoft.com/office/drawing/2014/main" val="2726328355"/>
                  </a:ext>
                </a:extLst>
              </a:tr>
              <a:tr h="277830">
                <a:tc>
                  <a:txBody>
                    <a:bodyPr/>
                    <a:lstStyle/>
                    <a:p>
                      <a:pPr algn="l" fontAlgn="b">
                        <a:buNone/>
                      </a:pPr>
                      <a:r>
                        <a:rPr lang="en-ZA" sz="1100" b="0" i="0" u="none" strike="noStrike">
                          <a:solidFill>
                            <a:srgbClr val="000000"/>
                          </a:solidFill>
                          <a:effectLst/>
                          <a:latin typeface="Aptos Narrow" panose="020B0004020202020204" pitchFamily="34" charset="0"/>
                        </a:rPr>
                        <a:t>Beauty</a:t>
                      </a:r>
                    </a:p>
                  </a:txBody>
                  <a:tcPr marL="7620" marR="7620" marT="7620" marB="0" anchor="b">
                    <a:lnL w="6350" cap="flat" cmpd="sng" algn="ctr">
                      <a:solidFill>
                        <a:srgbClr val="156082"/>
                      </a:solidFill>
                      <a:prstDash val="solid"/>
                      <a:round/>
                      <a:headEnd type="none" w="med" len="med"/>
                      <a:tailEnd type="none" w="med" len="med"/>
                    </a:lnL>
                    <a:lnR>
                      <a:noFill/>
                    </a:lnR>
                    <a:lnT>
                      <a:noFill/>
                    </a:lnT>
                    <a:lnB>
                      <a:noFill/>
                    </a:lnB>
                    <a:noFill/>
                  </a:tcPr>
                </a:tc>
                <a:tc>
                  <a:txBody>
                    <a:bodyPr/>
                    <a:lstStyle/>
                    <a:p>
                      <a:pPr algn="r" fontAlgn="b">
                        <a:buNone/>
                      </a:pPr>
                      <a:r>
                        <a:rPr lang="en-ZA" sz="1100" b="0" i="0" u="none" strike="noStrike">
                          <a:solidFill>
                            <a:srgbClr val="000000"/>
                          </a:solidFill>
                          <a:effectLst/>
                          <a:latin typeface="Aptos Narrow" panose="020B0004020202020204" pitchFamily="34" charset="0"/>
                        </a:rPr>
                        <a:t>6%</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7%</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4%</a:t>
                      </a:r>
                    </a:p>
                  </a:txBody>
                  <a:tcPr marL="7620" marR="7620" marT="7620" marB="0" anchor="b">
                    <a:lnL>
                      <a:noFill/>
                    </a:lnL>
                    <a:lnR>
                      <a:noFill/>
                    </a:lnR>
                    <a:lnT>
                      <a:noFill/>
                    </a:lnT>
                    <a:lnB>
                      <a:noFill/>
                    </a:lnB>
                    <a:solidFill>
                      <a:srgbClr val="3C7D22"/>
                    </a:solidFill>
                  </a:tcPr>
                </a:tc>
                <a:tc>
                  <a:txBody>
                    <a:bodyPr/>
                    <a:lstStyle/>
                    <a:p>
                      <a:pPr algn="r" fontAlgn="b">
                        <a:buNone/>
                      </a:pPr>
                      <a:r>
                        <a:rPr lang="en-ZA" sz="1100" b="0" i="0" u="none" strike="noStrike">
                          <a:solidFill>
                            <a:srgbClr val="000000"/>
                          </a:solidFill>
                          <a:effectLst/>
                          <a:latin typeface="Aptos Narrow" panose="020B0004020202020204" pitchFamily="34" charset="0"/>
                        </a:rPr>
                        <a:t>6%</a:t>
                      </a:r>
                    </a:p>
                  </a:txBody>
                  <a:tcPr marL="7620" marR="7620" marT="7620" marB="0" anchor="b">
                    <a:lnL>
                      <a:noFill/>
                    </a:lnL>
                    <a:lnR w="6350" cap="flat" cmpd="sng" algn="ctr">
                      <a:solidFill>
                        <a:srgbClr val="156082"/>
                      </a:solidFill>
                      <a:prstDash val="solid"/>
                      <a:round/>
                      <a:headEnd type="none" w="med" len="med"/>
                      <a:tailEnd type="none" w="med" len="med"/>
                    </a:lnR>
                    <a:lnT>
                      <a:noFill/>
                    </a:lnT>
                    <a:lnB>
                      <a:noFill/>
                    </a:lnB>
                    <a:solidFill>
                      <a:srgbClr val="B5E6A2"/>
                    </a:solidFill>
                  </a:tcPr>
                </a:tc>
                <a:extLst>
                  <a:ext uri="{0D108BD9-81ED-4DB2-BD59-A6C34878D82A}">
                    <a16:rowId xmlns:a16="http://schemas.microsoft.com/office/drawing/2014/main" val="2930848535"/>
                  </a:ext>
                </a:extLst>
              </a:tr>
              <a:tr h="289908">
                <a:tc>
                  <a:txBody>
                    <a:bodyPr/>
                    <a:lstStyle/>
                    <a:p>
                      <a:pPr algn="l" fontAlgn="b">
                        <a:buNone/>
                      </a:pPr>
                      <a:r>
                        <a:rPr lang="en-ZA" sz="1100" b="0" i="0" u="none" strike="noStrike">
                          <a:solidFill>
                            <a:srgbClr val="000000"/>
                          </a:solidFill>
                          <a:effectLst/>
                          <a:latin typeface="Aptos Narrow" panose="020B0004020202020204" pitchFamily="34" charset="0"/>
                        </a:rPr>
                        <a:t>Books</a:t>
                      </a:r>
                    </a:p>
                  </a:txBody>
                  <a:tcPr marL="7620" marR="7620" marT="7620" marB="0" anchor="b">
                    <a:lnL w="6350" cap="flat" cmpd="sng" algn="ctr">
                      <a:solidFill>
                        <a:srgbClr val="156082"/>
                      </a:solidFill>
                      <a:prstDash val="solid"/>
                      <a:round/>
                      <a:headEnd type="none" w="med" len="med"/>
                      <a:tailEnd type="none" w="med" len="med"/>
                    </a:lnL>
                    <a:lnR>
                      <a:noFill/>
                    </a:lnR>
                    <a:lnT>
                      <a:noFill/>
                    </a:lnT>
                    <a:lnB>
                      <a:noFill/>
                    </a:lnB>
                    <a:noFill/>
                  </a:tcPr>
                </a:tc>
                <a:tc>
                  <a:txBody>
                    <a:bodyPr/>
                    <a:lstStyle/>
                    <a:p>
                      <a:pPr algn="r" fontAlgn="b">
                        <a:buNone/>
                      </a:pPr>
                      <a:r>
                        <a:rPr lang="en-ZA" sz="1100" b="0" i="0" u="none" strike="noStrike">
                          <a:solidFill>
                            <a:srgbClr val="000000"/>
                          </a:solidFill>
                          <a:effectLst/>
                          <a:latin typeface="Aptos Narrow" panose="020B0004020202020204" pitchFamily="34" charset="0"/>
                        </a:rPr>
                        <a:t>8%</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6%</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13%</a:t>
                      </a:r>
                    </a:p>
                  </a:txBody>
                  <a:tcPr marL="7620" marR="7620" marT="7620" marB="0" anchor="b">
                    <a:lnL>
                      <a:noFill/>
                    </a:lnL>
                    <a:lnR>
                      <a:noFill/>
                    </a:lnR>
                    <a:lnT>
                      <a:noFill/>
                    </a:lnT>
                    <a:lnB>
                      <a:noFill/>
                    </a:lnB>
                    <a:solidFill>
                      <a:srgbClr val="FF0000"/>
                    </a:solidFill>
                  </a:tcPr>
                </a:tc>
                <a:tc>
                  <a:txBody>
                    <a:bodyPr/>
                    <a:lstStyle/>
                    <a:p>
                      <a:pPr algn="r" fontAlgn="b">
                        <a:buNone/>
                      </a:pPr>
                      <a:r>
                        <a:rPr lang="en-ZA" sz="1100" b="0" i="0" u="none" strike="noStrike">
                          <a:solidFill>
                            <a:srgbClr val="000000"/>
                          </a:solidFill>
                          <a:effectLst/>
                          <a:latin typeface="Aptos Narrow" panose="020B0004020202020204" pitchFamily="34" charset="0"/>
                        </a:rPr>
                        <a:t>9%</a:t>
                      </a:r>
                    </a:p>
                  </a:txBody>
                  <a:tcPr marL="7620" marR="7620" marT="7620" marB="0" anchor="b">
                    <a:lnL>
                      <a:noFill/>
                    </a:lnL>
                    <a:lnR w="6350" cap="flat" cmpd="sng" algn="ctr">
                      <a:solidFill>
                        <a:srgbClr val="156082"/>
                      </a:solidFill>
                      <a:prstDash val="solid"/>
                      <a:round/>
                      <a:headEnd type="none" w="med" len="med"/>
                      <a:tailEnd type="none" w="med" len="med"/>
                    </a:lnR>
                    <a:lnT>
                      <a:noFill/>
                    </a:lnT>
                    <a:lnB>
                      <a:noFill/>
                    </a:lnB>
                    <a:solidFill>
                      <a:srgbClr val="B5E6A2"/>
                    </a:solidFill>
                  </a:tcPr>
                </a:tc>
                <a:extLst>
                  <a:ext uri="{0D108BD9-81ED-4DB2-BD59-A6C34878D82A}">
                    <a16:rowId xmlns:a16="http://schemas.microsoft.com/office/drawing/2014/main" val="2678572173"/>
                  </a:ext>
                </a:extLst>
              </a:tr>
              <a:tr h="289908">
                <a:tc>
                  <a:txBody>
                    <a:bodyPr/>
                    <a:lstStyle/>
                    <a:p>
                      <a:pPr algn="l" fontAlgn="b">
                        <a:buNone/>
                      </a:pPr>
                      <a:r>
                        <a:rPr lang="en-ZA" sz="1100" b="0" i="0" u="none" strike="noStrike">
                          <a:solidFill>
                            <a:srgbClr val="000000"/>
                          </a:solidFill>
                          <a:effectLst/>
                          <a:latin typeface="Aptos Narrow" panose="020B0004020202020204" pitchFamily="34" charset="0"/>
                        </a:rPr>
                        <a:t>Clothing</a:t>
                      </a:r>
                    </a:p>
                  </a:txBody>
                  <a:tcPr marL="7620" marR="7620" marT="7620" marB="0" anchor="b">
                    <a:lnL w="6350" cap="flat" cmpd="sng" algn="ctr">
                      <a:solidFill>
                        <a:srgbClr val="156082"/>
                      </a:solidFill>
                      <a:prstDash val="solid"/>
                      <a:round/>
                      <a:headEnd type="none" w="med" len="med"/>
                      <a:tailEnd type="none" w="med" len="med"/>
                    </a:lnL>
                    <a:lnR>
                      <a:noFill/>
                    </a:lnR>
                    <a:lnT>
                      <a:noFill/>
                    </a:lnT>
                    <a:lnB>
                      <a:noFill/>
                    </a:lnB>
                    <a:noFill/>
                  </a:tcPr>
                </a:tc>
                <a:tc>
                  <a:txBody>
                    <a:bodyPr/>
                    <a:lstStyle/>
                    <a:p>
                      <a:pPr algn="r" fontAlgn="b">
                        <a:buNone/>
                      </a:pPr>
                      <a:r>
                        <a:rPr lang="en-ZA" sz="1100" b="0" i="0" u="none" strike="noStrike">
                          <a:solidFill>
                            <a:srgbClr val="000000"/>
                          </a:solidFill>
                          <a:effectLst/>
                          <a:latin typeface="Aptos Narrow" panose="020B0004020202020204" pitchFamily="34" charset="0"/>
                        </a:rPr>
                        <a:t>12%</a:t>
                      </a:r>
                    </a:p>
                  </a:txBody>
                  <a:tcPr marL="7620" marR="7620" marT="7620" marB="0" anchor="b">
                    <a:lnL>
                      <a:noFill/>
                    </a:lnL>
                    <a:lnR>
                      <a:noFill/>
                    </a:lnR>
                    <a:lnT>
                      <a:noFill/>
                    </a:lnT>
                    <a:lnB>
                      <a:noFill/>
                    </a:lnB>
                    <a:solidFill>
                      <a:srgbClr val="FF0000"/>
                    </a:solidFill>
                  </a:tcPr>
                </a:tc>
                <a:tc>
                  <a:txBody>
                    <a:bodyPr/>
                    <a:lstStyle/>
                    <a:p>
                      <a:pPr algn="r" fontAlgn="b">
                        <a:buNone/>
                      </a:pPr>
                      <a:r>
                        <a:rPr lang="en-ZA" sz="1100" b="0" i="0" u="none" strike="noStrike">
                          <a:solidFill>
                            <a:srgbClr val="000000"/>
                          </a:solidFill>
                          <a:effectLst/>
                          <a:latin typeface="Aptos Narrow" panose="020B0004020202020204" pitchFamily="34" charset="0"/>
                        </a:rPr>
                        <a:t>7%</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13%</a:t>
                      </a:r>
                    </a:p>
                  </a:txBody>
                  <a:tcPr marL="7620" marR="7620" marT="7620" marB="0" anchor="b">
                    <a:lnL>
                      <a:noFill/>
                    </a:lnL>
                    <a:lnR>
                      <a:noFill/>
                    </a:lnR>
                    <a:lnT>
                      <a:noFill/>
                    </a:lnT>
                    <a:lnB>
                      <a:noFill/>
                    </a:lnB>
                    <a:solidFill>
                      <a:srgbClr val="FF0000"/>
                    </a:solidFill>
                  </a:tcPr>
                </a:tc>
                <a:tc>
                  <a:txBody>
                    <a:bodyPr/>
                    <a:lstStyle/>
                    <a:p>
                      <a:pPr algn="r" fontAlgn="b">
                        <a:buNone/>
                      </a:pPr>
                      <a:r>
                        <a:rPr lang="en-ZA" sz="1100" b="0" i="0" u="none" strike="noStrike">
                          <a:solidFill>
                            <a:srgbClr val="000000"/>
                          </a:solidFill>
                          <a:effectLst/>
                          <a:latin typeface="Aptos Narrow" panose="020B0004020202020204" pitchFamily="34" charset="0"/>
                        </a:rPr>
                        <a:t>6%</a:t>
                      </a:r>
                    </a:p>
                  </a:txBody>
                  <a:tcPr marL="7620" marR="7620" marT="7620" marB="0" anchor="b">
                    <a:lnL>
                      <a:noFill/>
                    </a:lnL>
                    <a:lnR w="6350" cap="flat" cmpd="sng" algn="ctr">
                      <a:solidFill>
                        <a:srgbClr val="156082"/>
                      </a:solidFill>
                      <a:prstDash val="solid"/>
                      <a:round/>
                      <a:headEnd type="none" w="med" len="med"/>
                      <a:tailEnd type="none" w="med" len="med"/>
                    </a:lnR>
                    <a:lnT>
                      <a:noFill/>
                    </a:lnT>
                    <a:lnB>
                      <a:noFill/>
                    </a:lnB>
                    <a:solidFill>
                      <a:srgbClr val="B5E6A2"/>
                    </a:solidFill>
                  </a:tcPr>
                </a:tc>
                <a:extLst>
                  <a:ext uri="{0D108BD9-81ED-4DB2-BD59-A6C34878D82A}">
                    <a16:rowId xmlns:a16="http://schemas.microsoft.com/office/drawing/2014/main" val="2178191251"/>
                  </a:ext>
                </a:extLst>
              </a:tr>
              <a:tr h="289908">
                <a:tc>
                  <a:txBody>
                    <a:bodyPr/>
                    <a:lstStyle/>
                    <a:p>
                      <a:pPr algn="l" fontAlgn="b">
                        <a:buNone/>
                      </a:pPr>
                      <a:r>
                        <a:rPr lang="en-ZA" sz="1100" b="0" i="0" u="none" strike="noStrike">
                          <a:solidFill>
                            <a:srgbClr val="000000"/>
                          </a:solidFill>
                          <a:effectLst/>
                          <a:latin typeface="Aptos Narrow" panose="020B0004020202020204" pitchFamily="34" charset="0"/>
                        </a:rPr>
                        <a:t>Electronics</a:t>
                      </a:r>
                    </a:p>
                  </a:txBody>
                  <a:tcPr marL="7620" marR="7620" marT="7620" marB="0" anchor="b">
                    <a:lnL w="6350" cap="flat" cmpd="sng" algn="ctr">
                      <a:solidFill>
                        <a:srgbClr val="156082"/>
                      </a:solidFill>
                      <a:prstDash val="solid"/>
                      <a:round/>
                      <a:headEnd type="none" w="med" len="med"/>
                      <a:tailEnd type="none" w="med" len="med"/>
                    </a:lnL>
                    <a:lnR>
                      <a:noFill/>
                    </a:lnR>
                    <a:lnT>
                      <a:noFill/>
                    </a:lnT>
                    <a:lnB>
                      <a:noFill/>
                    </a:lnB>
                    <a:noFill/>
                  </a:tcPr>
                </a:tc>
                <a:tc>
                  <a:txBody>
                    <a:bodyPr/>
                    <a:lstStyle/>
                    <a:p>
                      <a:pPr algn="r" fontAlgn="b">
                        <a:buNone/>
                      </a:pPr>
                      <a:r>
                        <a:rPr lang="en-ZA" sz="1100" b="0" i="0" u="none" strike="noStrike">
                          <a:solidFill>
                            <a:srgbClr val="000000"/>
                          </a:solidFill>
                          <a:effectLst/>
                          <a:latin typeface="Aptos Narrow" panose="020B0004020202020204" pitchFamily="34" charset="0"/>
                        </a:rPr>
                        <a:t>8%</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8%</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9%</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10%</a:t>
                      </a:r>
                    </a:p>
                  </a:txBody>
                  <a:tcPr marL="7620" marR="7620" marT="7620" marB="0" anchor="b">
                    <a:lnL>
                      <a:noFill/>
                    </a:lnL>
                    <a:lnR w="6350" cap="flat" cmpd="sng" algn="ctr">
                      <a:solidFill>
                        <a:srgbClr val="156082"/>
                      </a:solidFill>
                      <a:prstDash val="solid"/>
                      <a:round/>
                      <a:headEnd type="none" w="med" len="med"/>
                      <a:tailEnd type="none" w="med" len="med"/>
                    </a:lnR>
                    <a:lnT>
                      <a:noFill/>
                    </a:lnT>
                    <a:lnB>
                      <a:noFill/>
                    </a:lnB>
                    <a:solidFill>
                      <a:srgbClr val="FF0000"/>
                    </a:solidFill>
                  </a:tcPr>
                </a:tc>
                <a:extLst>
                  <a:ext uri="{0D108BD9-81ED-4DB2-BD59-A6C34878D82A}">
                    <a16:rowId xmlns:a16="http://schemas.microsoft.com/office/drawing/2014/main" val="1743996533"/>
                  </a:ext>
                </a:extLst>
              </a:tr>
              <a:tr h="289908">
                <a:tc>
                  <a:txBody>
                    <a:bodyPr/>
                    <a:lstStyle/>
                    <a:p>
                      <a:pPr algn="l" fontAlgn="b">
                        <a:buNone/>
                      </a:pPr>
                      <a:r>
                        <a:rPr lang="en-ZA" sz="1100" b="0" i="0" u="none" strike="noStrike">
                          <a:solidFill>
                            <a:srgbClr val="000000"/>
                          </a:solidFill>
                          <a:effectLst/>
                          <a:latin typeface="Aptos Narrow" panose="020B0004020202020204" pitchFamily="34" charset="0"/>
                        </a:rPr>
                        <a:t>Food &amp; Beverage</a:t>
                      </a:r>
                    </a:p>
                  </a:txBody>
                  <a:tcPr marL="7620" marR="7620" marT="7620" marB="0" anchor="b">
                    <a:lnL w="6350" cap="flat" cmpd="sng" algn="ctr">
                      <a:solidFill>
                        <a:srgbClr val="156082"/>
                      </a:solidFill>
                      <a:prstDash val="solid"/>
                      <a:round/>
                      <a:headEnd type="none" w="med" len="med"/>
                      <a:tailEnd type="none" w="med" len="med"/>
                    </a:lnL>
                    <a:lnR>
                      <a:noFill/>
                    </a:lnR>
                    <a:lnT>
                      <a:noFill/>
                    </a:lnT>
                    <a:lnB>
                      <a:noFill/>
                    </a:lnB>
                    <a:noFill/>
                  </a:tcPr>
                </a:tc>
                <a:tc>
                  <a:txBody>
                    <a:bodyPr/>
                    <a:lstStyle/>
                    <a:p>
                      <a:pPr algn="r" fontAlgn="b">
                        <a:buNone/>
                      </a:pPr>
                      <a:r>
                        <a:rPr lang="en-ZA" sz="1100" b="0" i="0" u="none" strike="noStrike">
                          <a:solidFill>
                            <a:srgbClr val="000000"/>
                          </a:solidFill>
                          <a:effectLst/>
                          <a:latin typeface="Aptos Narrow" panose="020B0004020202020204" pitchFamily="34" charset="0"/>
                        </a:rPr>
                        <a:t>2%</a:t>
                      </a:r>
                    </a:p>
                  </a:txBody>
                  <a:tcPr marL="7620" marR="7620" marT="7620" marB="0" anchor="b">
                    <a:lnL>
                      <a:noFill/>
                    </a:lnL>
                    <a:lnR>
                      <a:noFill/>
                    </a:lnR>
                    <a:lnT>
                      <a:noFill/>
                    </a:lnT>
                    <a:lnB>
                      <a:noFill/>
                    </a:lnB>
                    <a:solidFill>
                      <a:srgbClr val="3C7D22"/>
                    </a:solidFill>
                  </a:tcPr>
                </a:tc>
                <a:tc>
                  <a:txBody>
                    <a:bodyPr/>
                    <a:lstStyle/>
                    <a:p>
                      <a:pPr algn="r" fontAlgn="b">
                        <a:buNone/>
                      </a:pPr>
                      <a:r>
                        <a:rPr lang="en-ZA" sz="1100" b="0" i="0" u="none" strike="noStrike">
                          <a:solidFill>
                            <a:srgbClr val="000000"/>
                          </a:solidFill>
                          <a:effectLst/>
                          <a:latin typeface="Aptos Narrow" panose="020B0004020202020204" pitchFamily="34" charset="0"/>
                        </a:rPr>
                        <a:t>7%</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13%</a:t>
                      </a:r>
                    </a:p>
                  </a:txBody>
                  <a:tcPr marL="7620" marR="7620" marT="7620" marB="0" anchor="b">
                    <a:lnL>
                      <a:noFill/>
                    </a:lnL>
                    <a:lnR>
                      <a:noFill/>
                    </a:lnR>
                    <a:lnT>
                      <a:noFill/>
                    </a:lnT>
                    <a:lnB>
                      <a:noFill/>
                    </a:lnB>
                    <a:solidFill>
                      <a:srgbClr val="FF0000"/>
                    </a:solidFill>
                  </a:tcPr>
                </a:tc>
                <a:tc>
                  <a:txBody>
                    <a:bodyPr/>
                    <a:lstStyle/>
                    <a:p>
                      <a:pPr algn="r" fontAlgn="b">
                        <a:buNone/>
                      </a:pPr>
                      <a:r>
                        <a:rPr lang="en-ZA" sz="1100" b="0" i="0" u="none" strike="noStrike">
                          <a:solidFill>
                            <a:srgbClr val="000000"/>
                          </a:solidFill>
                          <a:effectLst/>
                          <a:latin typeface="Aptos Narrow" panose="020B0004020202020204" pitchFamily="34" charset="0"/>
                        </a:rPr>
                        <a:t>6%</a:t>
                      </a:r>
                    </a:p>
                  </a:txBody>
                  <a:tcPr marL="7620" marR="7620" marT="7620" marB="0" anchor="b">
                    <a:lnL>
                      <a:noFill/>
                    </a:lnL>
                    <a:lnR w="6350" cap="flat" cmpd="sng" algn="ctr">
                      <a:solidFill>
                        <a:srgbClr val="156082"/>
                      </a:solidFill>
                      <a:prstDash val="solid"/>
                      <a:round/>
                      <a:headEnd type="none" w="med" len="med"/>
                      <a:tailEnd type="none" w="med" len="med"/>
                    </a:lnR>
                    <a:lnT>
                      <a:noFill/>
                    </a:lnT>
                    <a:lnB>
                      <a:noFill/>
                    </a:lnB>
                    <a:solidFill>
                      <a:srgbClr val="B5E6A2"/>
                    </a:solidFill>
                  </a:tcPr>
                </a:tc>
                <a:extLst>
                  <a:ext uri="{0D108BD9-81ED-4DB2-BD59-A6C34878D82A}">
                    <a16:rowId xmlns:a16="http://schemas.microsoft.com/office/drawing/2014/main" val="2028842186"/>
                  </a:ext>
                </a:extLst>
              </a:tr>
              <a:tr h="289908">
                <a:tc>
                  <a:txBody>
                    <a:bodyPr/>
                    <a:lstStyle/>
                    <a:p>
                      <a:pPr algn="l" fontAlgn="b">
                        <a:buNone/>
                      </a:pPr>
                      <a:r>
                        <a:rPr lang="en-ZA" sz="1100" b="0" i="0" u="none" strike="noStrike">
                          <a:solidFill>
                            <a:srgbClr val="000000"/>
                          </a:solidFill>
                          <a:effectLst/>
                          <a:latin typeface="Aptos Narrow" panose="020B0004020202020204" pitchFamily="34" charset="0"/>
                        </a:rPr>
                        <a:t>Home &amp; Kitchen</a:t>
                      </a:r>
                    </a:p>
                  </a:txBody>
                  <a:tcPr marL="7620" marR="7620" marT="7620" marB="0" anchor="b">
                    <a:lnL w="6350" cap="flat" cmpd="sng" algn="ctr">
                      <a:solidFill>
                        <a:srgbClr val="156082"/>
                      </a:solidFill>
                      <a:prstDash val="solid"/>
                      <a:round/>
                      <a:headEnd type="none" w="med" len="med"/>
                      <a:tailEnd type="none" w="med" len="med"/>
                    </a:lnL>
                    <a:lnR>
                      <a:noFill/>
                    </a:lnR>
                    <a:lnT>
                      <a:noFill/>
                    </a:lnT>
                    <a:lnB>
                      <a:noFill/>
                    </a:lnB>
                    <a:noFill/>
                  </a:tcPr>
                </a:tc>
                <a:tc>
                  <a:txBody>
                    <a:bodyPr/>
                    <a:lstStyle/>
                    <a:p>
                      <a:pPr algn="r" fontAlgn="b">
                        <a:buNone/>
                      </a:pPr>
                      <a:r>
                        <a:rPr lang="en-ZA" sz="1100" b="0" i="0" u="none" strike="noStrike">
                          <a:solidFill>
                            <a:srgbClr val="000000"/>
                          </a:solidFill>
                          <a:effectLst/>
                          <a:latin typeface="Aptos Narrow" panose="020B0004020202020204" pitchFamily="34" charset="0"/>
                        </a:rPr>
                        <a:t>7%</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5%</a:t>
                      </a:r>
                    </a:p>
                  </a:txBody>
                  <a:tcPr marL="7620" marR="7620" marT="7620" marB="0" anchor="b">
                    <a:lnL>
                      <a:noFill/>
                    </a:lnL>
                    <a:lnR>
                      <a:noFill/>
                    </a:lnR>
                    <a:lnT>
                      <a:noFill/>
                    </a:lnT>
                    <a:lnB>
                      <a:noFill/>
                    </a:lnB>
                    <a:solidFill>
                      <a:srgbClr val="3C7D22"/>
                    </a:solidFill>
                  </a:tcPr>
                </a:tc>
                <a:tc>
                  <a:txBody>
                    <a:bodyPr/>
                    <a:lstStyle/>
                    <a:p>
                      <a:pPr algn="r" fontAlgn="b">
                        <a:buNone/>
                      </a:pPr>
                      <a:r>
                        <a:rPr lang="en-ZA" sz="1100" b="0" i="0" u="none" strike="noStrike">
                          <a:solidFill>
                            <a:srgbClr val="000000"/>
                          </a:solidFill>
                          <a:effectLst/>
                          <a:latin typeface="Aptos Narrow" panose="020B0004020202020204" pitchFamily="34" charset="0"/>
                        </a:rPr>
                        <a:t>13%</a:t>
                      </a:r>
                    </a:p>
                  </a:txBody>
                  <a:tcPr marL="7620" marR="7620" marT="7620" marB="0" anchor="b">
                    <a:lnL>
                      <a:noFill/>
                    </a:lnL>
                    <a:lnR>
                      <a:noFill/>
                    </a:lnR>
                    <a:lnT>
                      <a:noFill/>
                    </a:lnT>
                    <a:lnB>
                      <a:noFill/>
                    </a:lnB>
                    <a:solidFill>
                      <a:srgbClr val="FF0000"/>
                    </a:solidFill>
                  </a:tcPr>
                </a:tc>
                <a:tc>
                  <a:txBody>
                    <a:bodyPr/>
                    <a:lstStyle/>
                    <a:p>
                      <a:pPr algn="r" fontAlgn="b">
                        <a:buNone/>
                      </a:pPr>
                      <a:r>
                        <a:rPr lang="en-ZA" sz="1100" b="0" i="0" u="none" strike="noStrike">
                          <a:solidFill>
                            <a:srgbClr val="000000"/>
                          </a:solidFill>
                          <a:effectLst/>
                          <a:latin typeface="Aptos Narrow" panose="020B0004020202020204" pitchFamily="34" charset="0"/>
                        </a:rPr>
                        <a:t>4%</a:t>
                      </a:r>
                    </a:p>
                  </a:txBody>
                  <a:tcPr marL="7620" marR="7620" marT="7620" marB="0" anchor="b">
                    <a:lnL>
                      <a:noFill/>
                    </a:lnL>
                    <a:lnR w="6350" cap="flat" cmpd="sng" algn="ctr">
                      <a:solidFill>
                        <a:srgbClr val="156082"/>
                      </a:solidFill>
                      <a:prstDash val="solid"/>
                      <a:round/>
                      <a:headEnd type="none" w="med" len="med"/>
                      <a:tailEnd type="none" w="med" len="med"/>
                    </a:lnR>
                    <a:lnT>
                      <a:noFill/>
                    </a:lnT>
                    <a:lnB>
                      <a:noFill/>
                    </a:lnB>
                    <a:solidFill>
                      <a:srgbClr val="3C7D22"/>
                    </a:solidFill>
                  </a:tcPr>
                </a:tc>
                <a:extLst>
                  <a:ext uri="{0D108BD9-81ED-4DB2-BD59-A6C34878D82A}">
                    <a16:rowId xmlns:a16="http://schemas.microsoft.com/office/drawing/2014/main" val="3424866488"/>
                  </a:ext>
                </a:extLst>
              </a:tr>
              <a:tr h="289908">
                <a:tc>
                  <a:txBody>
                    <a:bodyPr/>
                    <a:lstStyle/>
                    <a:p>
                      <a:pPr algn="l" fontAlgn="b">
                        <a:buNone/>
                      </a:pPr>
                      <a:r>
                        <a:rPr lang="en-ZA" sz="1100" b="0" i="0" u="none" strike="noStrike">
                          <a:solidFill>
                            <a:srgbClr val="000000"/>
                          </a:solidFill>
                          <a:effectLst/>
                          <a:latin typeface="Aptos Narrow" panose="020B0004020202020204" pitchFamily="34" charset="0"/>
                        </a:rPr>
                        <a:t>Sports</a:t>
                      </a:r>
                    </a:p>
                  </a:txBody>
                  <a:tcPr marL="7620" marR="7620" marT="7620" marB="0" anchor="b">
                    <a:lnL w="6350" cap="flat" cmpd="sng" algn="ctr">
                      <a:solidFill>
                        <a:srgbClr val="156082"/>
                      </a:solidFill>
                      <a:prstDash val="solid"/>
                      <a:round/>
                      <a:headEnd type="none" w="med" len="med"/>
                      <a:tailEnd type="none" w="med" len="med"/>
                    </a:lnL>
                    <a:lnR>
                      <a:noFill/>
                    </a:lnR>
                    <a:lnT>
                      <a:noFill/>
                    </a:lnT>
                    <a:lnB>
                      <a:noFill/>
                    </a:lnB>
                    <a:noFill/>
                  </a:tcPr>
                </a:tc>
                <a:tc>
                  <a:txBody>
                    <a:bodyPr/>
                    <a:lstStyle/>
                    <a:p>
                      <a:pPr algn="r" fontAlgn="b">
                        <a:buNone/>
                      </a:pPr>
                      <a:r>
                        <a:rPr lang="en-ZA" sz="1100" b="0" i="0" u="none" strike="noStrike">
                          <a:solidFill>
                            <a:srgbClr val="000000"/>
                          </a:solidFill>
                          <a:effectLst/>
                          <a:latin typeface="Aptos Narrow" panose="020B0004020202020204" pitchFamily="34" charset="0"/>
                        </a:rPr>
                        <a:t>2%</a:t>
                      </a:r>
                    </a:p>
                  </a:txBody>
                  <a:tcPr marL="7620" marR="7620" marT="7620" marB="0" anchor="b">
                    <a:lnL>
                      <a:noFill/>
                    </a:lnL>
                    <a:lnR>
                      <a:noFill/>
                    </a:lnR>
                    <a:lnT>
                      <a:noFill/>
                    </a:lnT>
                    <a:lnB>
                      <a:noFill/>
                    </a:lnB>
                    <a:solidFill>
                      <a:srgbClr val="3C7D22"/>
                    </a:solidFill>
                  </a:tcPr>
                </a:tc>
                <a:tc>
                  <a:txBody>
                    <a:bodyPr/>
                    <a:lstStyle/>
                    <a:p>
                      <a:pPr algn="r" fontAlgn="b">
                        <a:buNone/>
                      </a:pPr>
                      <a:r>
                        <a:rPr lang="en-ZA" sz="1100" b="0" i="0" u="none" strike="noStrike">
                          <a:solidFill>
                            <a:srgbClr val="000000"/>
                          </a:solidFill>
                          <a:effectLst/>
                          <a:latin typeface="Aptos Narrow" panose="020B0004020202020204" pitchFamily="34" charset="0"/>
                        </a:rPr>
                        <a:t>9%</a:t>
                      </a:r>
                    </a:p>
                  </a:txBody>
                  <a:tcPr marL="7620" marR="7620" marT="7620" marB="0" anchor="b">
                    <a:lnL>
                      <a:noFill/>
                    </a:lnL>
                    <a:lnR>
                      <a:noFill/>
                    </a:lnR>
                    <a:lnT>
                      <a:noFill/>
                    </a:lnT>
                    <a:lnB>
                      <a:noFill/>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4%</a:t>
                      </a:r>
                    </a:p>
                  </a:txBody>
                  <a:tcPr marL="7620" marR="7620" marT="7620" marB="0" anchor="b">
                    <a:lnL>
                      <a:noFill/>
                    </a:lnL>
                    <a:lnR>
                      <a:noFill/>
                    </a:lnR>
                    <a:lnT>
                      <a:noFill/>
                    </a:lnT>
                    <a:lnB>
                      <a:noFill/>
                    </a:lnB>
                    <a:solidFill>
                      <a:srgbClr val="3C7D22"/>
                    </a:solidFill>
                  </a:tcPr>
                </a:tc>
                <a:tc>
                  <a:txBody>
                    <a:bodyPr/>
                    <a:lstStyle/>
                    <a:p>
                      <a:pPr algn="r" fontAlgn="b">
                        <a:buNone/>
                      </a:pPr>
                      <a:r>
                        <a:rPr lang="en-ZA" sz="1100" b="0" i="0" u="none" strike="noStrike">
                          <a:solidFill>
                            <a:srgbClr val="000000"/>
                          </a:solidFill>
                          <a:effectLst/>
                          <a:latin typeface="Aptos Narrow" panose="020B0004020202020204" pitchFamily="34" charset="0"/>
                        </a:rPr>
                        <a:t>8%</a:t>
                      </a:r>
                    </a:p>
                  </a:txBody>
                  <a:tcPr marL="7620" marR="7620" marT="7620" marB="0" anchor="b">
                    <a:lnL>
                      <a:noFill/>
                    </a:lnL>
                    <a:lnR w="6350" cap="flat" cmpd="sng" algn="ctr">
                      <a:solidFill>
                        <a:srgbClr val="156082"/>
                      </a:solidFill>
                      <a:prstDash val="solid"/>
                      <a:round/>
                      <a:headEnd type="none" w="med" len="med"/>
                      <a:tailEnd type="none" w="med" len="med"/>
                    </a:lnR>
                    <a:lnT>
                      <a:noFill/>
                    </a:lnT>
                    <a:lnB>
                      <a:noFill/>
                    </a:lnB>
                    <a:solidFill>
                      <a:srgbClr val="B5E6A2"/>
                    </a:solidFill>
                  </a:tcPr>
                </a:tc>
                <a:extLst>
                  <a:ext uri="{0D108BD9-81ED-4DB2-BD59-A6C34878D82A}">
                    <a16:rowId xmlns:a16="http://schemas.microsoft.com/office/drawing/2014/main" val="4262925470"/>
                  </a:ext>
                </a:extLst>
              </a:tr>
              <a:tr h="289908">
                <a:tc>
                  <a:txBody>
                    <a:bodyPr/>
                    <a:lstStyle/>
                    <a:p>
                      <a:pPr algn="l" fontAlgn="b">
                        <a:buNone/>
                      </a:pPr>
                      <a:r>
                        <a:rPr lang="en-ZA" sz="1100" b="0" i="0" u="none" strike="noStrike">
                          <a:solidFill>
                            <a:srgbClr val="000000"/>
                          </a:solidFill>
                          <a:effectLst/>
                          <a:latin typeface="Aptos Narrow" panose="020B0004020202020204" pitchFamily="34" charset="0"/>
                        </a:rPr>
                        <a:t>Toys</a:t>
                      </a:r>
                    </a:p>
                  </a:txBody>
                  <a:tcPr marL="7620" marR="7620" marT="7620" marB="0" anchor="b">
                    <a:lnL w="6350" cap="flat" cmpd="sng" algn="ctr">
                      <a:solidFill>
                        <a:srgbClr val="156082"/>
                      </a:solidFill>
                      <a:prstDash val="solid"/>
                      <a:round/>
                      <a:headEnd type="none" w="med" len="med"/>
                      <a:tailEnd type="none" w="med" len="med"/>
                    </a:lnL>
                    <a:lnR>
                      <a:noFill/>
                    </a:lnR>
                    <a:lnT>
                      <a:noFill/>
                    </a:lnT>
                    <a:lnB w="6350" cap="flat" cmpd="sng" algn="ctr">
                      <a:solidFill>
                        <a:srgbClr val="156082"/>
                      </a:solidFill>
                      <a:prstDash val="solid"/>
                      <a:round/>
                      <a:headEnd type="none" w="med" len="med"/>
                      <a:tailEnd type="none" w="med" len="med"/>
                    </a:lnB>
                    <a:noFill/>
                  </a:tcPr>
                </a:tc>
                <a:tc>
                  <a:txBody>
                    <a:bodyPr/>
                    <a:lstStyle/>
                    <a:p>
                      <a:pPr algn="r" fontAlgn="b">
                        <a:buNone/>
                      </a:pPr>
                      <a:r>
                        <a:rPr lang="en-ZA" sz="1100" b="0" i="0" u="none" strike="noStrike">
                          <a:solidFill>
                            <a:srgbClr val="000000"/>
                          </a:solidFill>
                          <a:effectLst/>
                          <a:latin typeface="Aptos Narrow" panose="020B0004020202020204" pitchFamily="34" charset="0"/>
                        </a:rPr>
                        <a:t>8%</a:t>
                      </a:r>
                    </a:p>
                  </a:txBody>
                  <a:tcPr marL="7620" marR="7620" marT="7620" marB="0" anchor="b">
                    <a:lnL>
                      <a:noFill/>
                    </a:lnL>
                    <a:lnR>
                      <a:noFill/>
                    </a:lnR>
                    <a:lnT>
                      <a:noFill/>
                    </a:lnT>
                    <a:lnB w="6350" cap="flat" cmpd="sng" algn="ctr">
                      <a:solidFill>
                        <a:srgbClr val="156082"/>
                      </a:solidFill>
                      <a:prstDash val="solid"/>
                      <a:round/>
                      <a:headEnd type="none" w="med" len="med"/>
                      <a:tailEnd type="none" w="med" len="med"/>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8%</a:t>
                      </a:r>
                    </a:p>
                  </a:txBody>
                  <a:tcPr marL="7620" marR="7620" marT="7620" marB="0" anchor="b">
                    <a:lnL>
                      <a:noFill/>
                    </a:lnL>
                    <a:lnR>
                      <a:noFill/>
                    </a:lnR>
                    <a:lnT>
                      <a:noFill/>
                    </a:lnT>
                    <a:lnB w="6350" cap="flat" cmpd="sng" algn="ctr">
                      <a:solidFill>
                        <a:srgbClr val="156082"/>
                      </a:solidFill>
                      <a:prstDash val="solid"/>
                      <a:round/>
                      <a:headEnd type="none" w="med" len="med"/>
                      <a:tailEnd type="none" w="med" len="med"/>
                    </a:lnB>
                    <a:solidFill>
                      <a:srgbClr val="B5E6A2"/>
                    </a:solidFill>
                  </a:tcPr>
                </a:tc>
                <a:tc>
                  <a:txBody>
                    <a:bodyPr/>
                    <a:lstStyle/>
                    <a:p>
                      <a:pPr algn="r" fontAlgn="b">
                        <a:buNone/>
                      </a:pPr>
                      <a:r>
                        <a:rPr lang="en-ZA" sz="1100" b="0" i="0" u="none" strike="noStrike">
                          <a:solidFill>
                            <a:srgbClr val="000000"/>
                          </a:solidFill>
                          <a:effectLst/>
                          <a:latin typeface="Aptos Narrow" panose="020B0004020202020204" pitchFamily="34" charset="0"/>
                        </a:rPr>
                        <a:t>4%</a:t>
                      </a:r>
                    </a:p>
                  </a:txBody>
                  <a:tcPr marL="7620" marR="7620" marT="7620" marB="0" anchor="b">
                    <a:lnL>
                      <a:noFill/>
                    </a:lnL>
                    <a:lnR>
                      <a:noFill/>
                    </a:lnR>
                    <a:lnT>
                      <a:noFill/>
                    </a:lnT>
                    <a:lnB w="6350" cap="flat" cmpd="sng" algn="ctr">
                      <a:solidFill>
                        <a:srgbClr val="156082"/>
                      </a:solidFill>
                      <a:prstDash val="solid"/>
                      <a:round/>
                      <a:headEnd type="none" w="med" len="med"/>
                      <a:tailEnd type="none" w="med" len="med"/>
                    </a:lnB>
                    <a:solidFill>
                      <a:srgbClr val="3C7D22"/>
                    </a:solidFill>
                  </a:tcPr>
                </a:tc>
                <a:tc>
                  <a:txBody>
                    <a:bodyPr/>
                    <a:lstStyle/>
                    <a:p>
                      <a:pPr algn="r" fontAlgn="b">
                        <a:buNone/>
                      </a:pPr>
                      <a:r>
                        <a:rPr lang="en-ZA" sz="1100" b="0" i="0" u="none" strike="noStrike" dirty="0">
                          <a:solidFill>
                            <a:srgbClr val="000000"/>
                          </a:solidFill>
                          <a:effectLst/>
                          <a:latin typeface="Aptos Narrow" panose="020B0004020202020204" pitchFamily="34" charset="0"/>
                        </a:rPr>
                        <a:t>6%</a:t>
                      </a:r>
                    </a:p>
                  </a:txBody>
                  <a:tcPr marL="7620" marR="7620" marT="7620" marB="0" anchor="b">
                    <a:lnL>
                      <a:noFill/>
                    </a:lnL>
                    <a:lnR w="6350" cap="flat" cmpd="sng" algn="ctr">
                      <a:solidFill>
                        <a:srgbClr val="156082"/>
                      </a:solidFill>
                      <a:prstDash val="solid"/>
                      <a:round/>
                      <a:headEnd type="none" w="med" len="med"/>
                      <a:tailEnd type="none" w="med" len="med"/>
                    </a:lnR>
                    <a:lnT>
                      <a:noFill/>
                    </a:lnT>
                    <a:lnB w="6350" cap="flat" cmpd="sng" algn="ctr">
                      <a:solidFill>
                        <a:srgbClr val="156082"/>
                      </a:solidFill>
                      <a:prstDash val="solid"/>
                      <a:round/>
                      <a:headEnd type="none" w="med" len="med"/>
                      <a:tailEnd type="none" w="med" len="med"/>
                    </a:lnB>
                    <a:solidFill>
                      <a:srgbClr val="B5E6A2"/>
                    </a:solidFill>
                  </a:tcPr>
                </a:tc>
                <a:extLst>
                  <a:ext uri="{0D108BD9-81ED-4DB2-BD59-A6C34878D82A}">
                    <a16:rowId xmlns:a16="http://schemas.microsoft.com/office/drawing/2014/main" val="4206556230"/>
                  </a:ext>
                </a:extLst>
              </a:tr>
            </a:tbl>
          </a:graphicData>
        </a:graphic>
      </p:graphicFrame>
      <p:sp>
        <p:nvSpPr>
          <p:cNvPr id="18" name="Rectangle 17">
            <a:extLst>
              <a:ext uri="{FF2B5EF4-FFF2-40B4-BE49-F238E27FC236}">
                <a16:creationId xmlns:a16="http://schemas.microsoft.com/office/drawing/2014/main" id="{4EFA9D5D-1E2E-AD96-A4CA-FCFFFF0CED31}"/>
              </a:ext>
            </a:extLst>
          </p:cNvPr>
          <p:cNvSpPr/>
          <p:nvPr/>
        </p:nvSpPr>
        <p:spPr>
          <a:xfrm>
            <a:off x="7437863" y="1438506"/>
            <a:ext cx="4503628" cy="49957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rgbClr val="FF0000"/>
                </a:solidFill>
              </a:rPr>
              <a:t>Website &amp; Mobile App </a:t>
            </a:r>
            <a:r>
              <a:rPr lang="en-ZA" sz="1400" dirty="0">
                <a:solidFill>
                  <a:schemeClr val="tx1"/>
                </a:solidFill>
              </a:rPr>
              <a:t>have the lowest return rates but high revenue loss.</a:t>
            </a:r>
          </a:p>
          <a:p>
            <a:endParaRPr lang="en-ZA" sz="1400" dirty="0">
              <a:solidFill>
                <a:schemeClr val="tx1"/>
              </a:solidFill>
            </a:endParaRPr>
          </a:p>
          <a:p>
            <a:r>
              <a:rPr lang="en-ZA" sz="1600" b="1" dirty="0">
                <a:solidFill>
                  <a:schemeClr val="accent2">
                    <a:lumMod val="75000"/>
                  </a:schemeClr>
                </a:solidFill>
              </a:rPr>
              <a:t>Electronic and Clothing </a:t>
            </a:r>
            <a:r>
              <a:rPr lang="en-ZA" sz="1400" dirty="0">
                <a:solidFill>
                  <a:schemeClr val="tx1"/>
                </a:solidFill>
              </a:rPr>
              <a:t>have the most return rates and revenue loss.</a:t>
            </a:r>
          </a:p>
          <a:p>
            <a:endParaRPr lang="en-ZA" sz="1400" dirty="0">
              <a:solidFill>
                <a:schemeClr val="tx1"/>
              </a:solidFill>
            </a:endParaRPr>
          </a:p>
          <a:p>
            <a:r>
              <a:rPr lang="en-ZA" sz="1600" b="1" dirty="0">
                <a:solidFill>
                  <a:schemeClr val="tx2">
                    <a:lumMod val="50000"/>
                    <a:lumOff val="50000"/>
                  </a:schemeClr>
                </a:solidFill>
              </a:rPr>
              <a:t>Social Commerce </a:t>
            </a:r>
            <a:r>
              <a:rPr lang="en-ZA" sz="1400" dirty="0">
                <a:solidFill>
                  <a:schemeClr val="tx1"/>
                </a:solidFill>
              </a:rPr>
              <a:t>suffer the most return rates but lower revenue lost due to low order quantity.</a:t>
            </a:r>
          </a:p>
          <a:p>
            <a:endParaRPr lang="en-ZA" sz="1400" dirty="0">
              <a:solidFill>
                <a:schemeClr val="tx1"/>
              </a:solidFill>
            </a:endParaRPr>
          </a:p>
          <a:p>
            <a:r>
              <a:rPr lang="en-ZA" sz="1600" b="1" dirty="0">
                <a:solidFill>
                  <a:schemeClr val="accent6">
                    <a:lumMod val="75000"/>
                  </a:schemeClr>
                </a:solidFill>
              </a:rPr>
              <a:t>Action: </a:t>
            </a:r>
            <a:r>
              <a:rPr lang="en-ZA" sz="1400" dirty="0">
                <a:solidFill>
                  <a:schemeClr val="tx1"/>
                </a:solidFill>
              </a:rPr>
              <a:t>Improve product info quality, size guides and proactive return prevention in high-value category</a:t>
            </a:r>
          </a:p>
        </p:txBody>
      </p:sp>
    </p:spTree>
    <p:extLst>
      <p:ext uri="{BB962C8B-B14F-4D97-AF65-F5344CB8AC3E}">
        <p14:creationId xmlns:p14="http://schemas.microsoft.com/office/powerpoint/2010/main" val="2422898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09A67-617A-D765-A47B-2663C085534F}"/>
              </a:ext>
            </a:extLst>
          </p:cNvPr>
          <p:cNvSpPr/>
          <p:nvPr/>
        </p:nvSpPr>
        <p:spPr>
          <a:xfrm>
            <a:off x="0" y="0"/>
            <a:ext cx="12192000" cy="1026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dirty="0"/>
              <a:t>Marketing Spend &amp; ROAS</a:t>
            </a:r>
          </a:p>
        </p:txBody>
      </p:sp>
      <p:sp>
        <p:nvSpPr>
          <p:cNvPr id="3" name="Rectangle 2">
            <a:extLst>
              <a:ext uri="{FF2B5EF4-FFF2-40B4-BE49-F238E27FC236}">
                <a16:creationId xmlns:a16="http://schemas.microsoft.com/office/drawing/2014/main" id="{4814D1D3-6647-51FA-CEC9-2CCC2FA7E92C}"/>
              </a:ext>
            </a:extLst>
          </p:cNvPr>
          <p:cNvSpPr/>
          <p:nvPr/>
        </p:nvSpPr>
        <p:spPr>
          <a:xfrm>
            <a:off x="0" y="1026000"/>
            <a:ext cx="12192000" cy="792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ectangle 4">
            <a:extLst>
              <a:ext uri="{FF2B5EF4-FFF2-40B4-BE49-F238E27FC236}">
                <a16:creationId xmlns:a16="http://schemas.microsoft.com/office/drawing/2014/main" id="{55DB90FF-20F0-6126-4F68-979841E7A7BD}"/>
              </a:ext>
            </a:extLst>
          </p:cNvPr>
          <p:cNvSpPr/>
          <p:nvPr/>
        </p:nvSpPr>
        <p:spPr>
          <a:xfrm>
            <a:off x="7731133" y="1627897"/>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chemeClr val="accent6">
                    <a:lumMod val="75000"/>
                  </a:schemeClr>
                </a:solidFill>
              </a:rPr>
              <a:t>TikTok &amp; Influencer</a:t>
            </a:r>
          </a:p>
          <a:p>
            <a:endParaRPr lang="en-ZA" sz="1600" dirty="0">
              <a:solidFill>
                <a:srgbClr val="FF0000"/>
              </a:solidFill>
            </a:endParaRPr>
          </a:p>
          <a:p>
            <a:r>
              <a:rPr lang="en-ZA" sz="1400" dirty="0">
                <a:solidFill>
                  <a:schemeClr val="tx1"/>
                </a:solidFill>
              </a:rPr>
              <a:t>Highest ROAS. Priority platforms, increase budget allocation</a:t>
            </a:r>
            <a:r>
              <a:rPr lang="en-ZA" sz="1200" dirty="0">
                <a:solidFill>
                  <a:schemeClr val="tx1"/>
                </a:solidFill>
              </a:rPr>
              <a:t>.</a:t>
            </a:r>
          </a:p>
        </p:txBody>
      </p:sp>
      <p:sp>
        <p:nvSpPr>
          <p:cNvPr id="6" name="Rectangle 5">
            <a:extLst>
              <a:ext uri="{FF2B5EF4-FFF2-40B4-BE49-F238E27FC236}">
                <a16:creationId xmlns:a16="http://schemas.microsoft.com/office/drawing/2014/main" id="{1B9A4B1A-9EA6-34BF-89FD-995FE6E279F2}"/>
              </a:ext>
            </a:extLst>
          </p:cNvPr>
          <p:cNvSpPr/>
          <p:nvPr/>
        </p:nvSpPr>
        <p:spPr>
          <a:xfrm>
            <a:off x="7731133" y="3284594"/>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dirty="0">
                <a:solidFill>
                  <a:srgbClr val="0070C0"/>
                </a:solidFill>
              </a:rPr>
              <a:t>Instagram, Google &amp; Facebook</a:t>
            </a:r>
          </a:p>
          <a:p>
            <a:endParaRPr lang="en-ZA" sz="1600" dirty="0">
              <a:solidFill>
                <a:srgbClr val="FF0000"/>
              </a:solidFill>
            </a:endParaRPr>
          </a:p>
          <a:p>
            <a:r>
              <a:rPr lang="en-ZA" sz="1400" dirty="0">
                <a:solidFill>
                  <a:schemeClr val="tx1"/>
                </a:solidFill>
              </a:rPr>
              <a:t>Solid ROAS, profitable. Focus on efficiency improvements.</a:t>
            </a:r>
          </a:p>
        </p:txBody>
      </p:sp>
      <p:sp>
        <p:nvSpPr>
          <p:cNvPr id="7" name="Rectangle 6">
            <a:extLst>
              <a:ext uri="{FF2B5EF4-FFF2-40B4-BE49-F238E27FC236}">
                <a16:creationId xmlns:a16="http://schemas.microsoft.com/office/drawing/2014/main" id="{AC20AEF4-8C76-0857-7E33-7231F0B72A2D}"/>
              </a:ext>
            </a:extLst>
          </p:cNvPr>
          <p:cNvSpPr/>
          <p:nvPr/>
        </p:nvSpPr>
        <p:spPr>
          <a:xfrm>
            <a:off x="7731133" y="4941291"/>
            <a:ext cx="4320000" cy="1134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1600" b="1" dirty="0">
                <a:solidFill>
                  <a:srgbClr val="FF0000"/>
                </a:solidFill>
              </a:rPr>
              <a:t>Email Marketing</a:t>
            </a:r>
          </a:p>
          <a:p>
            <a:endParaRPr lang="en-ZA" sz="1600" dirty="0">
              <a:solidFill>
                <a:srgbClr val="FF0000"/>
              </a:solidFill>
            </a:endParaRPr>
          </a:p>
          <a:p>
            <a:r>
              <a:rPr lang="en-ZA" sz="1400" dirty="0">
                <a:solidFill>
                  <a:schemeClr val="tx1"/>
                </a:solidFill>
              </a:rPr>
              <a:t>Lowest ROAS. Optimize content, segmentation and send timing</a:t>
            </a:r>
          </a:p>
        </p:txBody>
      </p:sp>
      <p:graphicFrame>
        <p:nvGraphicFramePr>
          <p:cNvPr id="8" name="Chart 7">
            <a:extLst>
              <a:ext uri="{FF2B5EF4-FFF2-40B4-BE49-F238E27FC236}">
                <a16:creationId xmlns:a16="http://schemas.microsoft.com/office/drawing/2014/main" id="{4F53A49C-4C16-FA10-D7CA-B9389405C6BF}"/>
              </a:ext>
            </a:extLst>
          </p:cNvPr>
          <p:cNvGraphicFramePr>
            <a:graphicFrameLocks/>
          </p:cNvGraphicFramePr>
          <p:nvPr>
            <p:extLst>
              <p:ext uri="{D42A27DB-BD31-4B8C-83A1-F6EECF244321}">
                <p14:modId xmlns:p14="http://schemas.microsoft.com/office/powerpoint/2010/main" val="1643781274"/>
              </p:ext>
            </p:extLst>
          </p:nvPr>
        </p:nvGraphicFramePr>
        <p:xfrm>
          <a:off x="349591" y="1226635"/>
          <a:ext cx="5839336" cy="2884560"/>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Straight Connector 9">
            <a:extLst>
              <a:ext uri="{FF2B5EF4-FFF2-40B4-BE49-F238E27FC236}">
                <a16:creationId xmlns:a16="http://schemas.microsoft.com/office/drawing/2014/main" id="{A40FBD39-22B0-9726-A717-D593B440806C}"/>
              </a:ext>
            </a:extLst>
          </p:cNvPr>
          <p:cNvCxnSpPr/>
          <p:nvPr/>
        </p:nvCxnSpPr>
        <p:spPr>
          <a:xfrm>
            <a:off x="7731133" y="1627897"/>
            <a:ext cx="0" cy="113400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B22F540-0330-E59B-6269-999539A89E34}"/>
              </a:ext>
            </a:extLst>
          </p:cNvPr>
          <p:cNvCxnSpPr>
            <a:cxnSpLocks/>
          </p:cNvCxnSpPr>
          <p:nvPr/>
        </p:nvCxnSpPr>
        <p:spPr>
          <a:xfrm>
            <a:off x="7731133" y="3284594"/>
            <a:ext cx="0" cy="1120138"/>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C331835-C5A6-444C-3D30-60F17352C9DF}"/>
              </a:ext>
            </a:extLst>
          </p:cNvPr>
          <p:cNvCxnSpPr>
            <a:cxnSpLocks/>
          </p:cNvCxnSpPr>
          <p:nvPr/>
        </p:nvCxnSpPr>
        <p:spPr>
          <a:xfrm>
            <a:off x="7731133" y="4939990"/>
            <a:ext cx="0" cy="11353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17" name="Chart 16">
            <a:extLst>
              <a:ext uri="{FF2B5EF4-FFF2-40B4-BE49-F238E27FC236}">
                <a16:creationId xmlns:a16="http://schemas.microsoft.com/office/drawing/2014/main" id="{08595EC0-7933-258F-17E5-E3BEA3B05C33}"/>
              </a:ext>
            </a:extLst>
          </p:cNvPr>
          <p:cNvGraphicFramePr>
            <a:graphicFrameLocks/>
          </p:cNvGraphicFramePr>
          <p:nvPr>
            <p:extLst>
              <p:ext uri="{D42A27DB-BD31-4B8C-83A1-F6EECF244321}">
                <p14:modId xmlns:p14="http://schemas.microsoft.com/office/powerpoint/2010/main" val="176426254"/>
              </p:ext>
            </p:extLst>
          </p:nvPr>
        </p:nvGraphicFramePr>
        <p:xfrm>
          <a:off x="349590" y="4111195"/>
          <a:ext cx="720852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33889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80A22-2D27-03F8-A7F4-3DB5FE0E59CF}"/>
              </a:ext>
            </a:extLst>
          </p:cNvPr>
          <p:cNvSpPr/>
          <p:nvPr/>
        </p:nvSpPr>
        <p:spPr>
          <a:xfrm>
            <a:off x="0" y="-1"/>
            <a:ext cx="12192000" cy="1026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dirty="0"/>
              <a:t>CEO Recommendation: 20% Budget Reductions</a:t>
            </a:r>
          </a:p>
        </p:txBody>
      </p:sp>
      <p:sp>
        <p:nvSpPr>
          <p:cNvPr id="3" name="Rectangle 2">
            <a:extLst>
              <a:ext uri="{FF2B5EF4-FFF2-40B4-BE49-F238E27FC236}">
                <a16:creationId xmlns:a16="http://schemas.microsoft.com/office/drawing/2014/main" id="{3344D7F3-4F3F-04CA-7B4C-D2468FCD0AD8}"/>
              </a:ext>
            </a:extLst>
          </p:cNvPr>
          <p:cNvSpPr/>
          <p:nvPr/>
        </p:nvSpPr>
        <p:spPr>
          <a:xfrm>
            <a:off x="0" y="1025999"/>
            <a:ext cx="12192000" cy="792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4" name="Table 3">
            <a:extLst>
              <a:ext uri="{FF2B5EF4-FFF2-40B4-BE49-F238E27FC236}">
                <a16:creationId xmlns:a16="http://schemas.microsoft.com/office/drawing/2014/main" id="{19F2D377-9C9A-B8EC-930A-56AB7B4017F9}"/>
              </a:ext>
            </a:extLst>
          </p:cNvPr>
          <p:cNvGraphicFramePr>
            <a:graphicFrameLocks noGrp="1"/>
          </p:cNvGraphicFramePr>
          <p:nvPr>
            <p:extLst>
              <p:ext uri="{D42A27DB-BD31-4B8C-83A1-F6EECF244321}">
                <p14:modId xmlns:p14="http://schemas.microsoft.com/office/powerpoint/2010/main" val="2761753513"/>
              </p:ext>
            </p:extLst>
          </p:nvPr>
        </p:nvGraphicFramePr>
        <p:xfrm>
          <a:off x="144966" y="1395044"/>
          <a:ext cx="11240429" cy="4374286"/>
        </p:xfrm>
        <a:graphic>
          <a:graphicData uri="http://schemas.openxmlformats.org/drawingml/2006/table">
            <a:tbl>
              <a:tblPr firstRow="1" bandRow="1">
                <a:tableStyleId>{5940675A-B579-460E-94D1-54222C63F5DA}</a:tableStyleId>
              </a:tblPr>
              <a:tblGrid>
                <a:gridCol w="1794345">
                  <a:extLst>
                    <a:ext uri="{9D8B030D-6E8A-4147-A177-3AD203B41FA5}">
                      <a16:colId xmlns:a16="http://schemas.microsoft.com/office/drawing/2014/main" val="487971737"/>
                    </a:ext>
                  </a:extLst>
                </a:gridCol>
                <a:gridCol w="2508405">
                  <a:extLst>
                    <a:ext uri="{9D8B030D-6E8A-4147-A177-3AD203B41FA5}">
                      <a16:colId xmlns:a16="http://schemas.microsoft.com/office/drawing/2014/main" val="3128340749"/>
                    </a:ext>
                  </a:extLst>
                </a:gridCol>
                <a:gridCol w="2508405">
                  <a:extLst>
                    <a:ext uri="{9D8B030D-6E8A-4147-A177-3AD203B41FA5}">
                      <a16:colId xmlns:a16="http://schemas.microsoft.com/office/drawing/2014/main" val="2870075047"/>
                    </a:ext>
                  </a:extLst>
                </a:gridCol>
                <a:gridCol w="4429274">
                  <a:extLst>
                    <a:ext uri="{9D8B030D-6E8A-4147-A177-3AD203B41FA5}">
                      <a16:colId xmlns:a16="http://schemas.microsoft.com/office/drawing/2014/main" val="2588082186"/>
                    </a:ext>
                  </a:extLst>
                </a:gridCol>
              </a:tblGrid>
              <a:tr h="876243">
                <a:tc>
                  <a:txBody>
                    <a:bodyPr/>
                    <a:lstStyle/>
                    <a:p>
                      <a:pPr algn="l"/>
                      <a:endParaRPr lang="en-ZA" dirty="0"/>
                    </a:p>
                    <a:p>
                      <a:pPr algn="l"/>
                      <a:r>
                        <a:rPr lang="en-ZA" dirty="0">
                          <a:solidFill>
                            <a:schemeClr val="bg1"/>
                          </a:solidFill>
                        </a:rPr>
                        <a:t>Platform</a:t>
                      </a:r>
                    </a:p>
                  </a:txBody>
                  <a:tcPr>
                    <a:solidFill>
                      <a:srgbClr val="002060"/>
                    </a:solidFill>
                  </a:tcPr>
                </a:tc>
                <a:tc>
                  <a:txBody>
                    <a:bodyPr/>
                    <a:lstStyle/>
                    <a:p>
                      <a:endParaRPr lang="en-ZA" dirty="0"/>
                    </a:p>
                    <a:p>
                      <a:r>
                        <a:rPr lang="en-ZA" dirty="0">
                          <a:solidFill>
                            <a:schemeClr val="bg1"/>
                          </a:solidFill>
                        </a:rPr>
                        <a:t>Months to cut</a:t>
                      </a:r>
                    </a:p>
                  </a:txBody>
                  <a:tcPr>
                    <a:solidFill>
                      <a:srgbClr val="002060"/>
                    </a:solidFill>
                  </a:tcPr>
                </a:tc>
                <a:tc>
                  <a:txBody>
                    <a:bodyPr/>
                    <a:lstStyle/>
                    <a:p>
                      <a:endParaRPr lang="en-ZA" dirty="0"/>
                    </a:p>
                    <a:p>
                      <a:r>
                        <a:rPr lang="en-ZA" dirty="0">
                          <a:solidFill>
                            <a:schemeClr val="bg1"/>
                          </a:solidFill>
                        </a:rPr>
                        <a:t>ROAS level</a:t>
                      </a:r>
                    </a:p>
                  </a:txBody>
                  <a:tcPr>
                    <a:solidFill>
                      <a:srgbClr val="002060"/>
                    </a:solidFill>
                  </a:tcPr>
                </a:tc>
                <a:tc>
                  <a:txBody>
                    <a:bodyPr/>
                    <a:lstStyle/>
                    <a:p>
                      <a:endParaRPr lang="en-ZA" dirty="0"/>
                    </a:p>
                    <a:p>
                      <a:r>
                        <a:rPr lang="en-ZA" dirty="0">
                          <a:solidFill>
                            <a:schemeClr val="bg1"/>
                          </a:solidFill>
                        </a:rPr>
                        <a:t>Reason </a:t>
                      </a:r>
                    </a:p>
                  </a:txBody>
                  <a:tcPr>
                    <a:solidFill>
                      <a:srgbClr val="002060"/>
                    </a:solidFill>
                  </a:tcPr>
                </a:tc>
                <a:extLst>
                  <a:ext uri="{0D108BD9-81ED-4DB2-BD59-A6C34878D82A}">
                    <a16:rowId xmlns:a16="http://schemas.microsoft.com/office/drawing/2014/main" val="252761249"/>
                  </a:ext>
                </a:extLst>
              </a:tr>
              <a:tr h="516518">
                <a:tc>
                  <a:txBody>
                    <a:bodyPr/>
                    <a:lstStyle/>
                    <a:p>
                      <a:endParaRPr lang="en-ZA" dirty="0">
                        <a:solidFill>
                          <a:schemeClr val="tx1"/>
                        </a:solidFill>
                      </a:endParaRPr>
                    </a:p>
                    <a:p>
                      <a:r>
                        <a:rPr lang="en-ZA" sz="1400" dirty="0">
                          <a:solidFill>
                            <a:schemeClr val="tx1"/>
                          </a:solidFill>
                        </a:rPr>
                        <a:t>Google Ads</a:t>
                      </a:r>
                    </a:p>
                  </a:txBody>
                  <a:tcPr/>
                </a:tc>
                <a:tc>
                  <a:txBody>
                    <a:bodyPr/>
                    <a:lstStyle/>
                    <a:p>
                      <a:endParaRPr lang="en-ZA" dirty="0">
                        <a:solidFill>
                          <a:schemeClr val="tx1"/>
                        </a:solidFill>
                      </a:endParaRPr>
                    </a:p>
                    <a:p>
                      <a:pPr algn="ctr"/>
                      <a:r>
                        <a:rPr lang="en-ZA" sz="1400" dirty="0">
                          <a:solidFill>
                            <a:schemeClr val="tx1"/>
                          </a:solidFill>
                        </a:rPr>
                        <a:t>July</a:t>
                      </a:r>
                    </a:p>
                  </a:txBody>
                  <a:tcPr>
                    <a:solidFill>
                      <a:srgbClr val="FF0000"/>
                    </a:solidFill>
                  </a:tcPr>
                </a:tc>
                <a:tc>
                  <a:txBody>
                    <a:bodyPr/>
                    <a:lstStyle/>
                    <a:p>
                      <a:endParaRPr lang="en-ZA" dirty="0">
                        <a:solidFill>
                          <a:schemeClr val="tx1"/>
                        </a:solidFill>
                      </a:endParaRPr>
                    </a:p>
                    <a:p>
                      <a:pPr algn="ctr"/>
                      <a:r>
                        <a:rPr lang="en-ZA" sz="1400" dirty="0">
                          <a:solidFill>
                            <a:schemeClr val="tx1"/>
                          </a:solidFill>
                        </a:rPr>
                        <a:t>Low</a:t>
                      </a:r>
                    </a:p>
                  </a:txBody>
                  <a:tcPr>
                    <a:solidFill>
                      <a:srgbClr val="FF0000"/>
                    </a:solidFill>
                  </a:tcPr>
                </a:tc>
                <a:tc>
                  <a:txBody>
                    <a:bodyPr/>
                    <a:lstStyle/>
                    <a:p>
                      <a:endParaRPr lang="en-ZA" dirty="0">
                        <a:solidFill>
                          <a:schemeClr val="tx1"/>
                        </a:solidFill>
                      </a:endParaRPr>
                    </a:p>
                    <a:p>
                      <a:r>
                        <a:rPr lang="en-ZA" sz="1400" dirty="0">
                          <a:solidFill>
                            <a:schemeClr val="tx1"/>
                          </a:solidFill>
                        </a:rPr>
                        <a:t>Lowest ROAS, moderate spend</a:t>
                      </a:r>
                    </a:p>
                  </a:txBody>
                  <a:tcPr/>
                </a:tc>
                <a:extLst>
                  <a:ext uri="{0D108BD9-81ED-4DB2-BD59-A6C34878D82A}">
                    <a16:rowId xmlns:a16="http://schemas.microsoft.com/office/drawing/2014/main" val="3763915074"/>
                  </a:ext>
                </a:extLst>
              </a:tr>
              <a:tr h="556662">
                <a:tc>
                  <a:txBody>
                    <a:bodyPr/>
                    <a:lstStyle/>
                    <a:p>
                      <a:endParaRPr lang="en-ZA" sz="1600" dirty="0">
                        <a:solidFill>
                          <a:schemeClr val="tx1"/>
                        </a:solidFill>
                      </a:endParaRPr>
                    </a:p>
                    <a:p>
                      <a:r>
                        <a:rPr lang="en-ZA" sz="1400" dirty="0">
                          <a:solidFill>
                            <a:schemeClr val="tx1"/>
                          </a:solidFill>
                        </a:rPr>
                        <a:t>Facebook Ads</a:t>
                      </a:r>
                    </a:p>
                  </a:txBody>
                  <a:tcPr/>
                </a:tc>
                <a:tc>
                  <a:txBody>
                    <a:bodyPr/>
                    <a:lstStyle/>
                    <a:p>
                      <a:pPr algn="ctr"/>
                      <a:endParaRPr lang="en-ZA" sz="1400" dirty="0">
                        <a:solidFill>
                          <a:schemeClr val="tx1"/>
                        </a:solidFill>
                      </a:endParaRPr>
                    </a:p>
                    <a:p>
                      <a:pPr algn="ctr"/>
                      <a:r>
                        <a:rPr lang="en-ZA" sz="1400" dirty="0">
                          <a:solidFill>
                            <a:schemeClr val="tx1"/>
                          </a:solidFill>
                        </a:rPr>
                        <a:t>Aug, Oct, Nov</a:t>
                      </a:r>
                    </a:p>
                  </a:txBody>
                  <a:tcPr>
                    <a:solidFill>
                      <a:srgbClr val="FF0000"/>
                    </a:solidFill>
                  </a:tcPr>
                </a:tc>
                <a:tc>
                  <a:txBody>
                    <a:bodyPr/>
                    <a:lstStyle/>
                    <a:p>
                      <a:pPr algn="ctr"/>
                      <a:endParaRPr lang="en-ZA" sz="1400" dirty="0">
                        <a:solidFill>
                          <a:schemeClr val="tx1"/>
                        </a:solidFill>
                      </a:endParaRPr>
                    </a:p>
                    <a:p>
                      <a:pPr algn="ctr"/>
                      <a:r>
                        <a:rPr lang="en-ZA" sz="1400" dirty="0">
                          <a:solidFill>
                            <a:schemeClr val="tx1"/>
                          </a:solidFill>
                        </a:rPr>
                        <a:t>Low</a:t>
                      </a:r>
                    </a:p>
                  </a:txBody>
                  <a:tcPr>
                    <a:solidFill>
                      <a:srgbClr val="FF0000"/>
                    </a:solidFill>
                  </a:tcPr>
                </a:tc>
                <a:tc>
                  <a:txBody>
                    <a:bodyPr/>
                    <a:lstStyle/>
                    <a:p>
                      <a:endParaRPr lang="en-ZA" sz="1400" dirty="0">
                        <a:solidFill>
                          <a:schemeClr val="tx1"/>
                        </a:solidFill>
                      </a:endParaRPr>
                    </a:p>
                    <a:p>
                      <a:r>
                        <a:rPr lang="en-ZA" sz="1400" dirty="0">
                          <a:solidFill>
                            <a:schemeClr val="tx1"/>
                          </a:solidFill>
                        </a:rPr>
                        <a:t>High spend, poor returns, trim 3 months</a:t>
                      </a:r>
                    </a:p>
                  </a:txBody>
                  <a:tcPr/>
                </a:tc>
                <a:extLst>
                  <a:ext uri="{0D108BD9-81ED-4DB2-BD59-A6C34878D82A}">
                    <a16:rowId xmlns:a16="http://schemas.microsoft.com/office/drawing/2014/main" val="3652950007"/>
                  </a:ext>
                </a:extLst>
              </a:tr>
              <a:tr h="557406">
                <a:tc>
                  <a:txBody>
                    <a:bodyPr/>
                    <a:lstStyle/>
                    <a:p>
                      <a:endParaRPr lang="en-ZA" dirty="0">
                        <a:solidFill>
                          <a:schemeClr val="tx1"/>
                        </a:solidFill>
                      </a:endParaRPr>
                    </a:p>
                    <a:p>
                      <a:r>
                        <a:rPr lang="en-ZA" sz="1400" dirty="0">
                          <a:solidFill>
                            <a:schemeClr val="tx1"/>
                          </a:solidFill>
                        </a:rPr>
                        <a:t>Instagram Ads</a:t>
                      </a:r>
                    </a:p>
                  </a:txBody>
                  <a:tcPr/>
                </a:tc>
                <a:tc>
                  <a:txBody>
                    <a:bodyPr/>
                    <a:lstStyle/>
                    <a:p>
                      <a:pPr algn="ctr"/>
                      <a:endParaRPr lang="en-ZA" sz="1400" dirty="0">
                        <a:solidFill>
                          <a:schemeClr val="tx1"/>
                        </a:solidFill>
                      </a:endParaRPr>
                    </a:p>
                    <a:p>
                      <a:pPr algn="ctr"/>
                      <a:r>
                        <a:rPr lang="en-ZA" sz="1400" dirty="0">
                          <a:solidFill>
                            <a:schemeClr val="tx1"/>
                          </a:solidFill>
                        </a:rPr>
                        <a:t>Nov</a:t>
                      </a:r>
                    </a:p>
                  </a:txBody>
                  <a:tcPr>
                    <a:solidFill>
                      <a:srgbClr val="FF0000"/>
                    </a:solidFill>
                  </a:tcPr>
                </a:tc>
                <a:tc>
                  <a:txBody>
                    <a:bodyPr/>
                    <a:lstStyle/>
                    <a:p>
                      <a:pPr algn="ctr"/>
                      <a:endParaRPr lang="en-ZA" sz="1400" dirty="0">
                        <a:solidFill>
                          <a:schemeClr val="tx1"/>
                        </a:solidFill>
                      </a:endParaRPr>
                    </a:p>
                    <a:p>
                      <a:pPr algn="ctr"/>
                      <a:r>
                        <a:rPr lang="en-ZA" sz="1400" dirty="0">
                          <a:solidFill>
                            <a:schemeClr val="tx1"/>
                          </a:solidFill>
                        </a:rPr>
                        <a:t>Low</a:t>
                      </a:r>
                    </a:p>
                  </a:txBody>
                  <a:tcPr>
                    <a:solidFill>
                      <a:srgbClr val="FF0000"/>
                    </a:solidFill>
                  </a:tcPr>
                </a:tc>
                <a:tc>
                  <a:txBody>
                    <a:bodyPr/>
                    <a:lstStyle/>
                    <a:p>
                      <a:endParaRPr lang="en-ZA" sz="1400" dirty="0">
                        <a:solidFill>
                          <a:schemeClr val="tx1"/>
                        </a:solidFill>
                      </a:endParaRPr>
                    </a:p>
                    <a:p>
                      <a:r>
                        <a:rPr lang="en-ZA" sz="1400" dirty="0">
                          <a:solidFill>
                            <a:schemeClr val="tx1"/>
                          </a:solidFill>
                        </a:rPr>
                        <a:t>Lowest ROAS, reduce budget</a:t>
                      </a:r>
                    </a:p>
                  </a:txBody>
                  <a:tcPr/>
                </a:tc>
                <a:extLst>
                  <a:ext uri="{0D108BD9-81ED-4DB2-BD59-A6C34878D82A}">
                    <a16:rowId xmlns:a16="http://schemas.microsoft.com/office/drawing/2014/main" val="1524434533"/>
                  </a:ext>
                </a:extLst>
              </a:tr>
              <a:tr h="575248">
                <a:tc>
                  <a:txBody>
                    <a:bodyPr/>
                    <a:lstStyle/>
                    <a:p>
                      <a:endParaRPr lang="en-ZA" dirty="0">
                        <a:solidFill>
                          <a:schemeClr val="tx1"/>
                        </a:solidFill>
                      </a:endParaRPr>
                    </a:p>
                    <a:p>
                      <a:r>
                        <a:rPr lang="en-ZA" sz="1400" dirty="0">
                          <a:solidFill>
                            <a:schemeClr val="tx1"/>
                          </a:solidFill>
                        </a:rPr>
                        <a:t>TikTok Ads</a:t>
                      </a:r>
                    </a:p>
                  </a:txBody>
                  <a:tcPr/>
                </a:tc>
                <a:tc>
                  <a:txBody>
                    <a:bodyPr/>
                    <a:lstStyle/>
                    <a:p>
                      <a:endParaRPr lang="en-ZA" sz="1400" dirty="0">
                        <a:solidFill>
                          <a:schemeClr val="tx1"/>
                        </a:solidFill>
                      </a:endParaRPr>
                    </a:p>
                    <a:p>
                      <a:pPr algn="ctr"/>
                      <a:r>
                        <a:rPr lang="en-ZA" sz="1400" dirty="0">
                          <a:solidFill>
                            <a:schemeClr val="tx1"/>
                          </a:solidFill>
                        </a:rPr>
                        <a:t>Aug, Dec, Nov</a:t>
                      </a:r>
                    </a:p>
                  </a:txBody>
                  <a:tcPr>
                    <a:solidFill>
                      <a:schemeClr val="accent2">
                        <a:lumMod val="60000"/>
                        <a:lumOff val="40000"/>
                      </a:schemeClr>
                    </a:solidFill>
                  </a:tcPr>
                </a:tc>
                <a:tc>
                  <a:txBody>
                    <a:bodyPr/>
                    <a:lstStyle/>
                    <a:p>
                      <a:pPr algn="ctr"/>
                      <a:endParaRPr lang="en-ZA" sz="1400" dirty="0">
                        <a:solidFill>
                          <a:schemeClr val="tx1"/>
                        </a:solidFill>
                      </a:endParaRPr>
                    </a:p>
                    <a:p>
                      <a:pPr algn="ctr"/>
                      <a:r>
                        <a:rPr lang="en-ZA" sz="1400" dirty="0">
                          <a:solidFill>
                            <a:schemeClr val="tx1"/>
                          </a:solidFill>
                        </a:rPr>
                        <a:t>Below </a:t>
                      </a:r>
                      <a:r>
                        <a:rPr lang="en-ZA" sz="1400" dirty="0" err="1">
                          <a:solidFill>
                            <a:schemeClr val="tx1"/>
                          </a:solidFill>
                        </a:rPr>
                        <a:t>Avg</a:t>
                      </a:r>
                      <a:endParaRPr lang="en-ZA" sz="1400" dirty="0">
                        <a:solidFill>
                          <a:schemeClr val="tx1"/>
                        </a:solidFill>
                      </a:endParaRPr>
                    </a:p>
                  </a:txBody>
                  <a:tcPr>
                    <a:solidFill>
                      <a:schemeClr val="accent2">
                        <a:lumMod val="60000"/>
                        <a:lumOff val="40000"/>
                      </a:schemeClr>
                    </a:solidFill>
                  </a:tcPr>
                </a:tc>
                <a:tc>
                  <a:txBody>
                    <a:bodyPr/>
                    <a:lstStyle/>
                    <a:p>
                      <a:pPr algn="l"/>
                      <a:endParaRPr lang="en-ZA" sz="1400" dirty="0">
                        <a:solidFill>
                          <a:schemeClr val="tx1"/>
                        </a:solidFill>
                      </a:endParaRPr>
                    </a:p>
                    <a:p>
                      <a:pPr algn="l"/>
                      <a:r>
                        <a:rPr lang="en-ZA" sz="1400" dirty="0">
                          <a:solidFill>
                            <a:schemeClr val="tx1"/>
                          </a:solidFill>
                        </a:rPr>
                        <a:t>ROAS dips vs other months – minor trim only</a:t>
                      </a:r>
                    </a:p>
                  </a:txBody>
                  <a:tcPr/>
                </a:tc>
                <a:extLst>
                  <a:ext uri="{0D108BD9-81ED-4DB2-BD59-A6C34878D82A}">
                    <a16:rowId xmlns:a16="http://schemas.microsoft.com/office/drawing/2014/main" val="2210615325"/>
                  </a:ext>
                </a:extLst>
              </a:tr>
              <a:tr h="615392">
                <a:tc>
                  <a:txBody>
                    <a:bodyPr/>
                    <a:lstStyle/>
                    <a:p>
                      <a:endParaRPr lang="en-ZA" dirty="0">
                        <a:solidFill>
                          <a:schemeClr val="tx1"/>
                        </a:solidFill>
                      </a:endParaRPr>
                    </a:p>
                    <a:p>
                      <a:r>
                        <a:rPr lang="en-ZA" sz="1400" dirty="0">
                          <a:solidFill>
                            <a:schemeClr val="tx1"/>
                          </a:solidFill>
                        </a:rPr>
                        <a:t>Email Marketing</a:t>
                      </a:r>
                    </a:p>
                  </a:txBody>
                  <a:tcPr/>
                </a:tc>
                <a:tc>
                  <a:txBody>
                    <a:bodyPr/>
                    <a:lstStyle/>
                    <a:p>
                      <a:pPr algn="ctr"/>
                      <a:endParaRPr lang="en-ZA" sz="1400" dirty="0">
                        <a:solidFill>
                          <a:schemeClr val="tx1"/>
                        </a:solidFill>
                      </a:endParaRPr>
                    </a:p>
                    <a:p>
                      <a:pPr algn="ctr"/>
                      <a:r>
                        <a:rPr lang="en-ZA" sz="1400" dirty="0">
                          <a:solidFill>
                            <a:schemeClr val="tx1"/>
                          </a:solidFill>
                        </a:rPr>
                        <a:t>Oct, Jun, Nov</a:t>
                      </a:r>
                    </a:p>
                  </a:txBody>
                  <a:tcPr>
                    <a:solidFill>
                      <a:srgbClr val="FF0000"/>
                    </a:solidFill>
                  </a:tcPr>
                </a:tc>
                <a:tc>
                  <a:txBody>
                    <a:bodyPr/>
                    <a:lstStyle/>
                    <a:p>
                      <a:pPr algn="ctr"/>
                      <a:endParaRPr lang="en-ZA" sz="1400" dirty="0">
                        <a:solidFill>
                          <a:schemeClr val="tx1"/>
                        </a:solidFill>
                      </a:endParaRPr>
                    </a:p>
                    <a:p>
                      <a:pPr algn="ctr"/>
                      <a:r>
                        <a:rPr lang="en-ZA" sz="1400" dirty="0">
                          <a:solidFill>
                            <a:schemeClr val="tx1"/>
                          </a:solidFill>
                        </a:rPr>
                        <a:t>Low</a:t>
                      </a:r>
                    </a:p>
                  </a:txBody>
                  <a:tcPr>
                    <a:solidFill>
                      <a:srgbClr val="FF0000"/>
                    </a:solidFill>
                  </a:tcPr>
                </a:tc>
                <a:tc>
                  <a:txBody>
                    <a:bodyPr/>
                    <a:lstStyle/>
                    <a:p>
                      <a:endParaRPr lang="en-ZA" sz="1400" dirty="0">
                        <a:solidFill>
                          <a:schemeClr val="tx1"/>
                        </a:solidFill>
                      </a:endParaRPr>
                    </a:p>
                    <a:p>
                      <a:r>
                        <a:rPr lang="en-ZA" sz="1400" dirty="0">
                          <a:solidFill>
                            <a:schemeClr val="tx1"/>
                          </a:solidFill>
                        </a:rPr>
                        <a:t>Consistently low ROAS, reduce 3 worst months </a:t>
                      </a:r>
                    </a:p>
                  </a:txBody>
                  <a:tcPr/>
                </a:tc>
                <a:extLst>
                  <a:ext uri="{0D108BD9-81ED-4DB2-BD59-A6C34878D82A}">
                    <a16:rowId xmlns:a16="http://schemas.microsoft.com/office/drawing/2014/main" val="711259825"/>
                  </a:ext>
                </a:extLst>
              </a:tr>
              <a:tr h="588629">
                <a:tc>
                  <a:txBody>
                    <a:bodyPr/>
                    <a:lstStyle/>
                    <a:p>
                      <a:endParaRPr lang="en-ZA" dirty="0">
                        <a:solidFill>
                          <a:schemeClr val="tx1"/>
                        </a:solidFill>
                      </a:endParaRPr>
                    </a:p>
                    <a:p>
                      <a:r>
                        <a:rPr lang="en-ZA" sz="1400" dirty="0">
                          <a:solidFill>
                            <a:schemeClr val="tx1"/>
                          </a:solidFill>
                        </a:rPr>
                        <a:t>TikTok Ads</a:t>
                      </a:r>
                    </a:p>
                  </a:txBody>
                  <a:tcPr/>
                </a:tc>
                <a:tc>
                  <a:txBody>
                    <a:bodyPr/>
                    <a:lstStyle/>
                    <a:p>
                      <a:endParaRPr lang="en-ZA" sz="1400" dirty="0">
                        <a:solidFill>
                          <a:schemeClr val="tx1"/>
                        </a:solidFill>
                      </a:endParaRPr>
                    </a:p>
                    <a:p>
                      <a:pPr algn="ctr"/>
                      <a:r>
                        <a:rPr lang="en-ZA" sz="1400" dirty="0">
                          <a:solidFill>
                            <a:schemeClr val="tx1"/>
                          </a:solidFill>
                        </a:rPr>
                        <a:t>None</a:t>
                      </a:r>
                    </a:p>
                  </a:txBody>
                  <a:tcPr>
                    <a:solidFill>
                      <a:schemeClr val="accent6">
                        <a:lumMod val="75000"/>
                      </a:schemeClr>
                    </a:solidFill>
                  </a:tcPr>
                </a:tc>
                <a:tc>
                  <a:txBody>
                    <a:bodyPr/>
                    <a:lstStyle/>
                    <a:p>
                      <a:pPr algn="ctr"/>
                      <a:endParaRPr lang="en-ZA" sz="1400" dirty="0">
                        <a:solidFill>
                          <a:schemeClr val="tx1"/>
                        </a:solidFill>
                      </a:endParaRPr>
                    </a:p>
                    <a:p>
                      <a:pPr algn="ctr"/>
                      <a:r>
                        <a:rPr lang="en-ZA" sz="1400" dirty="0">
                          <a:solidFill>
                            <a:schemeClr val="tx1"/>
                          </a:solidFill>
                        </a:rPr>
                        <a:t>Moderate-high</a:t>
                      </a:r>
                    </a:p>
                  </a:txBody>
                  <a:tcPr>
                    <a:solidFill>
                      <a:schemeClr val="accent6">
                        <a:lumMod val="75000"/>
                      </a:schemeClr>
                    </a:solidFill>
                  </a:tcPr>
                </a:tc>
                <a:tc>
                  <a:txBody>
                    <a:bodyPr/>
                    <a:lstStyle/>
                    <a:p>
                      <a:endParaRPr lang="en-ZA" sz="1400" dirty="0">
                        <a:solidFill>
                          <a:schemeClr val="tx1"/>
                        </a:solidFill>
                      </a:endParaRPr>
                    </a:p>
                    <a:p>
                      <a:r>
                        <a:rPr lang="en-ZA" sz="1400" dirty="0">
                          <a:solidFill>
                            <a:schemeClr val="tx1"/>
                          </a:solidFill>
                        </a:rPr>
                        <a:t>Avoid cuts-high ROAS months are critical to revenue</a:t>
                      </a:r>
                    </a:p>
                  </a:txBody>
                  <a:tcPr/>
                </a:tc>
                <a:extLst>
                  <a:ext uri="{0D108BD9-81ED-4DB2-BD59-A6C34878D82A}">
                    <a16:rowId xmlns:a16="http://schemas.microsoft.com/office/drawing/2014/main" val="1582879777"/>
                  </a:ext>
                </a:extLst>
              </a:tr>
            </a:tbl>
          </a:graphicData>
        </a:graphic>
      </p:graphicFrame>
    </p:spTree>
    <p:extLst>
      <p:ext uri="{BB962C8B-B14F-4D97-AF65-F5344CB8AC3E}">
        <p14:creationId xmlns:p14="http://schemas.microsoft.com/office/powerpoint/2010/main" val="1908919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98C036-5112-9D21-179F-2DA49CF3660E}"/>
              </a:ext>
            </a:extLst>
          </p:cNvPr>
          <p:cNvSpPr/>
          <p:nvPr/>
        </p:nvSpPr>
        <p:spPr>
          <a:xfrm>
            <a:off x="0" y="1"/>
            <a:ext cx="12192000" cy="1026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4000" dirty="0"/>
              <a:t>Summary &amp; Key Takeaways</a:t>
            </a:r>
          </a:p>
        </p:txBody>
      </p:sp>
      <p:sp>
        <p:nvSpPr>
          <p:cNvPr id="3" name="Rectangle 2">
            <a:extLst>
              <a:ext uri="{FF2B5EF4-FFF2-40B4-BE49-F238E27FC236}">
                <a16:creationId xmlns:a16="http://schemas.microsoft.com/office/drawing/2014/main" id="{4649391A-03E5-FAB3-A9C0-7E567A09C4D1}"/>
              </a:ext>
            </a:extLst>
          </p:cNvPr>
          <p:cNvSpPr/>
          <p:nvPr/>
        </p:nvSpPr>
        <p:spPr>
          <a:xfrm>
            <a:off x="0" y="1026001"/>
            <a:ext cx="12192000" cy="792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F5A31A3D-774D-57A9-F8CC-3AE3A0AA2B9E}"/>
              </a:ext>
            </a:extLst>
          </p:cNvPr>
          <p:cNvSpPr/>
          <p:nvPr/>
        </p:nvSpPr>
        <p:spPr>
          <a:xfrm>
            <a:off x="289932" y="1855230"/>
            <a:ext cx="5185312" cy="1620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b="1" dirty="0">
                <a:solidFill>
                  <a:srgbClr val="002060"/>
                </a:solidFill>
              </a:rPr>
              <a:t>Product Category </a:t>
            </a:r>
          </a:p>
          <a:p>
            <a:endParaRPr lang="en-ZA" b="1" dirty="0">
              <a:solidFill>
                <a:srgbClr val="002060"/>
              </a:solidFill>
            </a:endParaRPr>
          </a:p>
          <a:p>
            <a:r>
              <a:rPr lang="en-ZA" sz="1400" dirty="0">
                <a:solidFill>
                  <a:srgbClr val="002060"/>
                </a:solidFill>
              </a:rPr>
              <a:t>Clothing and electronics suffer the most returns and discounts, reduce return rates with better product info and size guides. Beauty is the lowest in return rates and discounts, analyse pricing strategy.</a:t>
            </a:r>
          </a:p>
        </p:txBody>
      </p:sp>
      <p:cxnSp>
        <p:nvCxnSpPr>
          <p:cNvPr id="6" name="Straight Connector 5">
            <a:extLst>
              <a:ext uri="{FF2B5EF4-FFF2-40B4-BE49-F238E27FC236}">
                <a16:creationId xmlns:a16="http://schemas.microsoft.com/office/drawing/2014/main" id="{2CD73F15-EA6D-2EC2-3464-6545CE62D5B7}"/>
              </a:ext>
            </a:extLst>
          </p:cNvPr>
          <p:cNvCxnSpPr/>
          <p:nvPr/>
        </p:nvCxnSpPr>
        <p:spPr>
          <a:xfrm>
            <a:off x="289932" y="1855230"/>
            <a:ext cx="0" cy="163922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BCAEA4E7-79D4-DCAD-7882-07CB76AE3712}"/>
              </a:ext>
            </a:extLst>
          </p:cNvPr>
          <p:cNvSpPr/>
          <p:nvPr/>
        </p:nvSpPr>
        <p:spPr>
          <a:xfrm>
            <a:off x="289932" y="4192770"/>
            <a:ext cx="5184000" cy="1620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b="1" dirty="0">
                <a:solidFill>
                  <a:srgbClr val="002060"/>
                </a:solidFill>
              </a:rPr>
              <a:t>Best Channels</a:t>
            </a:r>
          </a:p>
          <a:p>
            <a:endParaRPr lang="en-ZA" b="1" dirty="0">
              <a:solidFill>
                <a:srgbClr val="002060"/>
              </a:solidFill>
            </a:endParaRPr>
          </a:p>
          <a:p>
            <a:r>
              <a:rPr lang="en-ZA" sz="1400" dirty="0">
                <a:solidFill>
                  <a:srgbClr val="002060"/>
                </a:solidFill>
              </a:rPr>
              <a:t>Mobile App &amp; Website are profit leaders. Marketplace &amp; Social Commerce need structural optimization.</a:t>
            </a:r>
          </a:p>
          <a:p>
            <a:endParaRPr lang="en-ZA" sz="1400" dirty="0">
              <a:solidFill>
                <a:srgbClr val="002060"/>
              </a:solidFill>
            </a:endParaRPr>
          </a:p>
        </p:txBody>
      </p:sp>
      <p:sp>
        <p:nvSpPr>
          <p:cNvPr id="8" name="Rectangle 7">
            <a:extLst>
              <a:ext uri="{FF2B5EF4-FFF2-40B4-BE49-F238E27FC236}">
                <a16:creationId xmlns:a16="http://schemas.microsoft.com/office/drawing/2014/main" id="{C9450F52-7628-67A2-74D5-3E471386C825}"/>
              </a:ext>
            </a:extLst>
          </p:cNvPr>
          <p:cNvSpPr/>
          <p:nvPr/>
        </p:nvSpPr>
        <p:spPr>
          <a:xfrm>
            <a:off x="6307873" y="1855230"/>
            <a:ext cx="5185312" cy="1620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b="1" dirty="0">
                <a:solidFill>
                  <a:srgbClr val="002060"/>
                </a:solidFill>
              </a:rPr>
              <a:t>Marketing ROAS</a:t>
            </a:r>
          </a:p>
          <a:p>
            <a:endParaRPr lang="en-ZA" b="1" dirty="0">
              <a:solidFill>
                <a:srgbClr val="002060"/>
              </a:solidFill>
            </a:endParaRPr>
          </a:p>
          <a:p>
            <a:r>
              <a:rPr lang="en-ZA" sz="1400" dirty="0">
                <a:solidFill>
                  <a:srgbClr val="002060"/>
                </a:solidFill>
              </a:rPr>
              <a:t>TikTok &amp; Influencer deliver highest ROI. Email marketing  underperforms – optimize or reduce</a:t>
            </a:r>
          </a:p>
          <a:p>
            <a:endParaRPr lang="en-ZA" sz="1400" dirty="0">
              <a:solidFill>
                <a:srgbClr val="002060"/>
              </a:solidFill>
            </a:endParaRPr>
          </a:p>
        </p:txBody>
      </p:sp>
      <p:sp>
        <p:nvSpPr>
          <p:cNvPr id="9" name="Rectangle 8">
            <a:extLst>
              <a:ext uri="{FF2B5EF4-FFF2-40B4-BE49-F238E27FC236}">
                <a16:creationId xmlns:a16="http://schemas.microsoft.com/office/drawing/2014/main" id="{ACF8A22B-2538-E472-F976-466D55557CDD}"/>
              </a:ext>
            </a:extLst>
          </p:cNvPr>
          <p:cNvSpPr/>
          <p:nvPr/>
        </p:nvSpPr>
        <p:spPr>
          <a:xfrm>
            <a:off x="6307873" y="4192770"/>
            <a:ext cx="5184000" cy="16200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b="1" dirty="0">
                <a:solidFill>
                  <a:srgbClr val="002060"/>
                </a:solidFill>
              </a:rPr>
              <a:t>20% Budget Cut</a:t>
            </a:r>
          </a:p>
          <a:p>
            <a:endParaRPr lang="en-ZA" b="1" dirty="0">
              <a:solidFill>
                <a:srgbClr val="002060"/>
              </a:solidFill>
            </a:endParaRPr>
          </a:p>
          <a:p>
            <a:r>
              <a:rPr lang="en-ZA" sz="1400" dirty="0">
                <a:solidFill>
                  <a:srgbClr val="002060"/>
                </a:solidFill>
              </a:rPr>
              <a:t>Achievable by cutting only low ROAS months. Influencer budget must be protected to preserve peak revenue.</a:t>
            </a:r>
          </a:p>
          <a:p>
            <a:endParaRPr lang="en-ZA" sz="1400" dirty="0">
              <a:solidFill>
                <a:srgbClr val="002060"/>
              </a:solidFill>
            </a:endParaRPr>
          </a:p>
        </p:txBody>
      </p:sp>
      <p:cxnSp>
        <p:nvCxnSpPr>
          <p:cNvPr id="11" name="Straight Connector 10">
            <a:extLst>
              <a:ext uri="{FF2B5EF4-FFF2-40B4-BE49-F238E27FC236}">
                <a16:creationId xmlns:a16="http://schemas.microsoft.com/office/drawing/2014/main" id="{0020A993-A592-0595-6FAE-B93F7F0D3E44}"/>
              </a:ext>
            </a:extLst>
          </p:cNvPr>
          <p:cNvCxnSpPr>
            <a:cxnSpLocks/>
          </p:cNvCxnSpPr>
          <p:nvPr/>
        </p:nvCxnSpPr>
        <p:spPr>
          <a:xfrm>
            <a:off x="289932" y="4192770"/>
            <a:ext cx="0" cy="162000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79696BC-4046-015A-1B55-E745A2D1B890}"/>
              </a:ext>
            </a:extLst>
          </p:cNvPr>
          <p:cNvCxnSpPr>
            <a:cxnSpLocks/>
          </p:cNvCxnSpPr>
          <p:nvPr/>
        </p:nvCxnSpPr>
        <p:spPr>
          <a:xfrm>
            <a:off x="6307873" y="1855230"/>
            <a:ext cx="0" cy="163922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340746B-A6CA-34F2-3EAC-BA61A962C65D}"/>
              </a:ext>
            </a:extLst>
          </p:cNvPr>
          <p:cNvCxnSpPr/>
          <p:nvPr/>
        </p:nvCxnSpPr>
        <p:spPr>
          <a:xfrm>
            <a:off x="6307873" y="4192770"/>
            <a:ext cx="0" cy="1620000"/>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0669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5870</TotalTime>
  <Words>709</Words>
  <Application>Microsoft Office PowerPoint</Application>
  <PresentationFormat>Widescreen</PresentationFormat>
  <Paragraphs>198</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Aptos Narrow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Leshego Bapela</dc:creator>
  <cp:lastModifiedBy>Leshego Bapela</cp:lastModifiedBy>
  <cp:revision>3</cp:revision>
  <dcterms:created xsi:type="dcterms:W3CDTF">2026-03-16T19:16:54Z</dcterms:created>
  <dcterms:modified xsi:type="dcterms:W3CDTF">2026-03-22T19:27:35Z</dcterms:modified>
</cp:coreProperties>
</file>